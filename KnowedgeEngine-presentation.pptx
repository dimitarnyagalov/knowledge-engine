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7" r:id="rId2"/>
    <p:sldId id="258" r:id="rId3"/>
    <p:sldId id="263" r:id="rId4"/>
    <p:sldId id="264" r:id="rId5"/>
    <p:sldId id="265" r:id="rId6"/>
    <p:sldId id="266" r:id="rId7"/>
  </p:sldIdLst>
  <p:sldSz cx="18288000" cy="10287000"/>
  <p:notesSz cx="6858000" cy="9144000"/>
  <p:embeddedFontLst>
    <p:embeddedFont>
      <p:font typeface="Calibri" panose="020F0502020204030204" pitchFamily="34" charset="0"/>
      <p:regular r:id="rId8"/>
      <p:bold r:id="rId9"/>
      <p:italic r:id="rId10"/>
      <p:boldItalic r:id="rId11"/>
    </p:embeddedFont>
    <p:embeddedFont>
      <p:font typeface="Cy Grotesk Wide" panose="020B0604020202020204" charset="-52"/>
      <p:regular r:id="rId12"/>
    </p:embeddedFont>
    <p:embeddedFont>
      <p:font typeface="Cy Grotesk Wide Bold" panose="020B0604020202020204" charset="-52"/>
      <p:regular r:id="rId13"/>
    </p:embeddedFont>
    <p:embeddedFont>
      <p:font typeface="Arial Black" panose="020B0A04020102020204" pitchFamily="34" charset="0"/>
      <p:bold r:id="rId14"/>
    </p:embeddedFont>
    <p:embeddedFont>
      <p:font typeface="Lastica Bold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1" d="100"/>
          <a:sy n="71" d="100"/>
        </p:scale>
        <p:origin x="282" y="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5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10" Type="http://schemas.openxmlformats.org/officeDocument/2006/relationships/font" Target="fonts/font3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2.sv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11" Type="http://schemas.openxmlformats.org/officeDocument/2006/relationships/image" Target="../media/image7.png"/><Relationship Id="rId10" Type="http://schemas.openxmlformats.org/officeDocument/2006/relationships/image" Target="../media/image6.jpeg"/><Relationship Id="rId4" Type="http://schemas.openxmlformats.org/officeDocument/2006/relationships/image" Target="../media/image2.png"/><Relationship Id="rId9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plusplus.com/" TargetMode="External"/><Relationship Id="rId13" Type="http://schemas.openxmlformats.org/officeDocument/2006/relationships/image" Target="../media/image11.png"/><Relationship Id="rId18" Type="http://schemas.openxmlformats.org/officeDocument/2006/relationships/hyperlink" Target="https://git-scm.com/" TargetMode="External"/><Relationship Id="rId3" Type="http://schemas.openxmlformats.org/officeDocument/2006/relationships/image" Target="../media/image2.svg"/><Relationship Id="rId7" Type="http://schemas.openxmlformats.org/officeDocument/2006/relationships/image" Target="../media/image8.png"/><Relationship Id="rId12" Type="http://schemas.openxmlformats.org/officeDocument/2006/relationships/hyperlink" Target="https://www.microsoft.com/en-ww/microsoft-365/word" TargetMode="External"/><Relationship Id="rId17" Type="http://schemas.openxmlformats.org/officeDocument/2006/relationships/image" Target="../media/image13.png"/><Relationship Id="rId2" Type="http://schemas.openxmlformats.org/officeDocument/2006/relationships/image" Target="../media/image1.png"/><Relationship Id="rId16" Type="http://schemas.openxmlformats.org/officeDocument/2006/relationships/hyperlink" Target="https://www.microsoft.com/en/microsoft-teams/group-chat-software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" TargetMode="External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2.png"/><Relationship Id="rId10" Type="http://schemas.openxmlformats.org/officeDocument/2006/relationships/hyperlink" Target="https://visualstudio.microsoft.com/vs/" TargetMode="External"/><Relationship Id="rId19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9.png"/><Relationship Id="rId14" Type="http://schemas.openxmlformats.org/officeDocument/2006/relationships/hyperlink" Target="https://www.microsoft.com/en-ww/microsoft-365/powerpoint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57342" y="4581047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6"/>
                </a:lnTo>
                <a:lnTo>
                  <a:pt x="0" y="89963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3" name="Freeform 3"/>
          <p:cNvSpPr/>
          <p:nvPr/>
        </p:nvSpPr>
        <p:spPr>
          <a:xfrm>
            <a:off x="12891974" y="-5120206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5"/>
                </a:lnTo>
                <a:lnTo>
                  <a:pt x="0" y="89963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5" name="TextBox 5"/>
          <p:cNvSpPr txBox="1"/>
          <p:nvPr/>
        </p:nvSpPr>
        <p:spPr>
          <a:xfrm>
            <a:off x="2127816" y="2744127"/>
            <a:ext cx="14032368" cy="33255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216"/>
              </a:lnSpc>
            </a:pPr>
            <a:r>
              <a:rPr lang="en-US" sz="9440" b="1" spc="1123" dirty="0" smtClean="0">
                <a:solidFill>
                  <a:srgbClr val="3C6CA8"/>
                </a:solidFill>
                <a:latin typeface="Lastica Bold"/>
                <a:ea typeface="Lastica Bold"/>
                <a:cs typeface="Lastica Bold"/>
                <a:sym typeface="Lastica Bold"/>
              </a:rPr>
              <a:t>Knowledge Engine</a:t>
            </a:r>
            <a:endParaRPr lang="en-US" sz="9440" b="1" spc="1123" dirty="0">
              <a:solidFill>
                <a:srgbClr val="3C6CA8"/>
              </a:solidFill>
              <a:latin typeface="Lastica Bold"/>
              <a:ea typeface="Lastica Bold"/>
              <a:cs typeface="Lastica Bold"/>
              <a:sym typeface="Lastica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57342" y="4581047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6"/>
                </a:lnTo>
                <a:lnTo>
                  <a:pt x="0" y="89963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3" name="Freeform 3"/>
          <p:cNvSpPr/>
          <p:nvPr/>
        </p:nvSpPr>
        <p:spPr>
          <a:xfrm>
            <a:off x="12891974" y="-5120206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5"/>
                </a:lnTo>
                <a:lnTo>
                  <a:pt x="0" y="89963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 dirty="0"/>
          </a:p>
        </p:txBody>
      </p:sp>
      <p:sp>
        <p:nvSpPr>
          <p:cNvPr id="6" name="TextBox 6"/>
          <p:cNvSpPr txBox="1"/>
          <p:nvPr/>
        </p:nvSpPr>
        <p:spPr>
          <a:xfrm>
            <a:off x="141194" y="952500"/>
            <a:ext cx="17384806" cy="21544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6000" b="1" spc="714" dirty="0" smtClean="0">
                <a:solidFill>
                  <a:srgbClr val="3C6CA8"/>
                </a:solidFill>
                <a:latin typeface="Lastica Bold"/>
                <a:ea typeface="Lastica Bold"/>
                <a:cs typeface="Lastica Bold"/>
                <a:sym typeface="Lastica Bold"/>
              </a:rPr>
              <a:t>By THE KNOWLEDGE ENGINE team </a:t>
            </a:r>
            <a:endParaRPr lang="en-US" sz="6000" b="1" spc="714" dirty="0">
              <a:solidFill>
                <a:srgbClr val="3C6CA8"/>
              </a:solidFill>
              <a:latin typeface="Lastica Bold"/>
              <a:ea typeface="Lastica Bold"/>
              <a:cs typeface="Lastica Bold"/>
              <a:sym typeface="Lastica Bold"/>
            </a:endParaRPr>
          </a:p>
        </p:txBody>
      </p:sp>
      <p:sp>
        <p:nvSpPr>
          <p:cNvPr id="7" name="AutoShape 2" descr="Gemini_Generated_Image_978zyp978zyp978z"/>
          <p:cNvSpPr>
            <a:spLocks noChangeAspect="1" noChangeArrowheads="1"/>
          </p:cNvSpPr>
          <p:nvPr/>
        </p:nvSpPr>
        <p:spPr bwMode="auto">
          <a:xfrm>
            <a:off x="-1752600" y="-2171700"/>
            <a:ext cx="4991100" cy="49911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bg-BG"/>
          </a:p>
        </p:txBody>
      </p:sp>
      <p:sp>
        <p:nvSpPr>
          <p:cNvPr id="10" name="AutoShape 4" descr="Вълкан Павлов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bg-BG"/>
          </a:p>
        </p:txBody>
      </p:sp>
      <p:sp>
        <p:nvSpPr>
          <p:cNvPr id="31" name="Правоъгълник 30"/>
          <p:cNvSpPr/>
          <p:nvPr/>
        </p:nvSpPr>
        <p:spPr>
          <a:xfrm>
            <a:off x="8534400" y="3295724"/>
            <a:ext cx="9144000" cy="6555641"/>
          </a:xfrm>
          <a:prstGeom prst="rect">
            <a:avLst/>
          </a:prstGeom>
        </p:spPr>
        <p:txBody>
          <a:bodyPr anchor="ctr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 smtClean="0">
                <a:solidFill>
                  <a:schemeClr val="accent1">
                    <a:lumMod val="75000"/>
                  </a:schemeClr>
                </a:solidFill>
              </a:rPr>
              <a:t>General </a:t>
            </a:r>
            <a:r>
              <a:rPr lang="en-US" sz="2800" b="1" dirty="0">
                <a:solidFill>
                  <a:schemeClr val="accent1">
                    <a:lumMod val="75000"/>
                  </a:schemeClr>
                </a:solidFill>
              </a:rPr>
              <a:t>math </a:t>
            </a:r>
            <a:r>
              <a:rPr lang="en-US" sz="2800" b="1" dirty="0" smtClean="0">
                <a:solidFill>
                  <a:schemeClr val="accent1">
                    <a:lumMod val="75000"/>
                  </a:schemeClr>
                </a:solidFill>
              </a:rPr>
              <a:t>statement</a:t>
            </a:r>
            <a:r>
              <a:rPr lang="bg-BG" sz="2800" b="1" dirty="0" smtClean="0">
                <a:solidFill>
                  <a:schemeClr val="accent1">
                    <a:lumMod val="75000"/>
                  </a:schemeClr>
                </a:solidFill>
              </a:rPr>
              <a:t>-</a:t>
            </a:r>
            <a:r>
              <a:rPr lang="en-US" sz="2800" b="1" dirty="0" smtClean="0">
                <a:solidFill>
                  <a:schemeClr val="accent1">
                    <a:lumMod val="75000"/>
                  </a:schemeClr>
                </a:solidFill>
              </a:rPr>
              <a:t>“From </a:t>
            </a:r>
            <a:r>
              <a:rPr lang="en-US" sz="2800" b="1" dirty="0">
                <a:solidFill>
                  <a:schemeClr val="accent1">
                    <a:lumMod val="75000"/>
                  </a:schemeClr>
                </a:solidFill>
              </a:rPr>
              <a:t>a mathematical standpoint, the result follows directly from established principles and does not require additional assumptions.”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 smtClean="0">
                <a:solidFill>
                  <a:schemeClr val="accent1">
                    <a:lumMod val="75000"/>
                  </a:schemeClr>
                </a:solidFill>
              </a:rPr>
              <a:t>Explaining </a:t>
            </a:r>
            <a:r>
              <a:rPr lang="en-US" sz="2800" b="1" dirty="0">
                <a:solidFill>
                  <a:schemeClr val="accent1">
                    <a:lumMod val="75000"/>
                  </a:schemeClr>
                </a:solidFill>
              </a:rPr>
              <a:t>a </a:t>
            </a:r>
            <a:r>
              <a:rPr lang="en-US" sz="2800" b="1" dirty="0" smtClean="0">
                <a:solidFill>
                  <a:schemeClr val="accent1">
                    <a:lumMod val="75000"/>
                  </a:schemeClr>
                </a:solidFill>
              </a:rPr>
              <a:t>concept</a:t>
            </a:r>
            <a:r>
              <a:rPr lang="bg-BG" sz="2800" b="1" dirty="0">
                <a:solidFill>
                  <a:schemeClr val="accent1">
                    <a:lumMod val="75000"/>
                  </a:schemeClr>
                </a:solidFill>
              </a:rPr>
              <a:t>-</a:t>
            </a:r>
            <a:r>
              <a:rPr lang="en-US" sz="2800" b="1" dirty="0" smtClean="0">
                <a:solidFill>
                  <a:schemeClr val="accent1">
                    <a:lumMod val="75000"/>
                  </a:schemeClr>
                </a:solidFill>
              </a:rPr>
              <a:t>“This </a:t>
            </a:r>
            <a:r>
              <a:rPr lang="en-US" sz="2800" b="1" dirty="0">
                <a:solidFill>
                  <a:schemeClr val="accent1">
                    <a:lumMod val="75000"/>
                  </a:schemeClr>
                </a:solidFill>
              </a:rPr>
              <a:t>relationship can be formalized by expressing the system as a function, where the output varies predictably with respect to the input.”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 smtClean="0">
                <a:solidFill>
                  <a:schemeClr val="accent1">
                    <a:lumMod val="75000"/>
                  </a:schemeClr>
                </a:solidFill>
              </a:rPr>
              <a:t>Analytical tone</a:t>
            </a:r>
            <a:r>
              <a:rPr lang="bg-BG" sz="2800" b="1" dirty="0" smtClean="0">
                <a:solidFill>
                  <a:schemeClr val="accent1">
                    <a:lumMod val="75000"/>
                  </a:schemeClr>
                </a:solidFill>
              </a:rPr>
              <a:t>-</a:t>
            </a:r>
            <a:r>
              <a:rPr lang="en-US" sz="2800" b="1" dirty="0" smtClean="0">
                <a:solidFill>
                  <a:schemeClr val="accent1">
                    <a:lumMod val="75000"/>
                  </a:schemeClr>
                </a:solidFill>
              </a:rPr>
              <a:t>“Our </a:t>
            </a:r>
            <a:r>
              <a:rPr lang="en-US" sz="2800" b="1" dirty="0">
                <a:solidFill>
                  <a:schemeClr val="accent1">
                    <a:lumMod val="75000"/>
                  </a:schemeClr>
                </a:solidFill>
              </a:rPr>
              <a:t>evaluation shows that the solution converges under standard conditions, indicating stability within the defined parameters.”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 smtClean="0">
                <a:solidFill>
                  <a:schemeClr val="accent1">
                    <a:lumMod val="75000"/>
                  </a:schemeClr>
                </a:solidFill>
              </a:rPr>
              <a:t>Addressing correctness</a:t>
            </a:r>
            <a:r>
              <a:rPr lang="bg-BG" sz="2800" b="1" dirty="0">
                <a:solidFill>
                  <a:schemeClr val="accent1">
                    <a:lumMod val="75000"/>
                  </a:schemeClr>
                </a:solidFill>
              </a:rPr>
              <a:t>-</a:t>
            </a:r>
            <a:r>
              <a:rPr lang="en-US" sz="2800" b="1" dirty="0" smtClean="0">
                <a:solidFill>
                  <a:schemeClr val="accent1">
                    <a:lumMod val="75000"/>
                  </a:schemeClr>
                </a:solidFill>
              </a:rPr>
              <a:t>“The </a:t>
            </a:r>
            <a:r>
              <a:rPr lang="en-US" sz="2800" b="1" dirty="0">
                <a:solidFill>
                  <a:schemeClr val="accent1">
                    <a:lumMod val="75000"/>
                  </a:schemeClr>
                </a:solidFill>
              </a:rPr>
              <a:t>result is consistent with the underlying theorem and can be verified through substitution or direct computation</a:t>
            </a:r>
            <a:r>
              <a:rPr lang="en-US" sz="2800" b="1" dirty="0" smtClean="0">
                <a:solidFill>
                  <a:schemeClr val="accent1">
                    <a:lumMod val="75000"/>
                  </a:schemeClr>
                </a:solidFill>
              </a:rPr>
              <a:t>.”</a:t>
            </a:r>
            <a:endParaRPr lang="bg-BG" sz="2800" b="1" dirty="0" smtClean="0">
              <a:solidFill>
                <a:schemeClr val="accent1">
                  <a:lumMod val="7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 smtClean="0">
                <a:solidFill>
                  <a:schemeClr val="accent1">
                    <a:lumMod val="75000"/>
                  </a:schemeClr>
                </a:solidFill>
              </a:rPr>
              <a:t>Problem-solving</a:t>
            </a:r>
            <a:r>
              <a:rPr lang="bg-BG" sz="2800" b="1" dirty="0">
                <a:solidFill>
                  <a:schemeClr val="accent1">
                    <a:lumMod val="75000"/>
                  </a:schemeClr>
                </a:solidFill>
              </a:rPr>
              <a:t>-</a:t>
            </a:r>
            <a:r>
              <a:rPr lang="en-US" sz="2800" b="1" dirty="0" smtClean="0">
                <a:solidFill>
                  <a:schemeClr val="accent1">
                    <a:lumMod val="75000"/>
                  </a:schemeClr>
                </a:solidFill>
              </a:rPr>
              <a:t>“By </a:t>
            </a:r>
            <a:r>
              <a:rPr lang="en-US" sz="2800" b="1" dirty="0">
                <a:solidFill>
                  <a:schemeClr val="accent1">
                    <a:lumMod val="75000"/>
                  </a:schemeClr>
                </a:solidFill>
              </a:rPr>
              <a:t>reducing the expression and isolating the variable, we obtain a form that is significantly easier to evaluate.”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57342" y="4581047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6"/>
                </a:lnTo>
                <a:lnTo>
                  <a:pt x="0" y="89963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3" name="Freeform 3"/>
          <p:cNvSpPr/>
          <p:nvPr/>
        </p:nvSpPr>
        <p:spPr>
          <a:xfrm>
            <a:off x="12891974" y="-5120206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5"/>
                </a:lnTo>
                <a:lnTo>
                  <a:pt x="0" y="89963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5" name="TextBox 5"/>
          <p:cNvSpPr txBox="1"/>
          <p:nvPr/>
        </p:nvSpPr>
        <p:spPr>
          <a:xfrm>
            <a:off x="7735220" y="5890641"/>
            <a:ext cx="9902028" cy="1038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9890" lvl="1" indent="-294945" algn="just">
              <a:lnSpc>
                <a:spcPts val="2732"/>
              </a:lnSpc>
              <a:buFont typeface="Arial"/>
              <a:buChar char="•"/>
            </a:pPr>
            <a:r>
              <a:rPr lang="en-US" sz="2732" dirty="0" smtClean="0">
                <a:solidFill>
                  <a:schemeClr val="accent1">
                    <a:lumMod val="75000"/>
                  </a:schemeClr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Randomly chosen math </a:t>
            </a:r>
            <a:r>
              <a:rPr lang="en-US" sz="2732" dirty="0" smtClean="0">
                <a:solidFill>
                  <a:schemeClr val="accent1">
                    <a:lumMod val="75000"/>
                  </a:schemeClr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questions</a:t>
            </a:r>
          </a:p>
          <a:p>
            <a:pPr marL="589890" lvl="1" indent="-294945" algn="just">
              <a:lnSpc>
                <a:spcPts val="2732"/>
              </a:lnSpc>
              <a:buFont typeface="Arial"/>
              <a:buChar char="•"/>
            </a:pPr>
            <a:r>
              <a:rPr lang="en-US" sz="2732" dirty="0" smtClean="0">
                <a:solidFill>
                  <a:schemeClr val="accent1">
                    <a:lumMod val="75000"/>
                  </a:schemeClr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Makes learning math easier</a:t>
            </a:r>
          </a:p>
          <a:p>
            <a:pPr marL="589890" lvl="1" indent="-294945" algn="just">
              <a:lnSpc>
                <a:spcPts val="2732"/>
              </a:lnSpc>
              <a:buFont typeface="Arial"/>
              <a:buChar char="•"/>
            </a:pPr>
            <a:r>
              <a:rPr lang="en-US" sz="2732" dirty="0" smtClean="0">
                <a:solidFill>
                  <a:schemeClr val="accent1">
                    <a:lumMod val="75000"/>
                  </a:schemeClr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Compares your test scores against others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494431" y="2771259"/>
            <a:ext cx="15515310" cy="1038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1" spc="714" dirty="0" smtClean="0">
                <a:solidFill>
                  <a:srgbClr val="3C6CA8"/>
                </a:solidFill>
                <a:latin typeface="Lastica Bold"/>
                <a:ea typeface="Lastica Bold"/>
                <a:cs typeface="Lastica Bold"/>
                <a:sym typeface="Lastica Bold"/>
              </a:rPr>
              <a:t>Features</a:t>
            </a:r>
            <a:endParaRPr lang="en-US" sz="6000" b="1" spc="714" dirty="0">
              <a:solidFill>
                <a:srgbClr val="3C6CA8"/>
              </a:solidFill>
              <a:latin typeface="Lastica Bold"/>
              <a:ea typeface="Lastica Bold"/>
              <a:cs typeface="Lastica Bold"/>
              <a:sym typeface="Lastica Bold"/>
            </a:endParaRPr>
          </a:p>
        </p:txBody>
      </p:sp>
      <p:sp>
        <p:nvSpPr>
          <p:cNvPr id="7" name="AutoShape 2" descr="Александра Якимчук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bg-BG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519137" y="1407081"/>
            <a:ext cx="15249726" cy="1335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9"/>
              </a:lnSpc>
            </a:pPr>
            <a:r>
              <a:rPr lang="en-US" sz="7720" b="1" spc="918" dirty="0">
                <a:solidFill>
                  <a:srgbClr val="3C6CA8"/>
                </a:solidFill>
                <a:latin typeface="Lastica Bold"/>
                <a:ea typeface="Lastica Bold"/>
                <a:cs typeface="Lastica Bold"/>
                <a:sym typeface="Lastica Bold"/>
              </a:rPr>
              <a:t>Our </a:t>
            </a:r>
            <a:r>
              <a:rPr lang="en-US" sz="7720" b="1" spc="918" dirty="0" smtClean="0">
                <a:solidFill>
                  <a:srgbClr val="3C6CA8"/>
                </a:solidFill>
                <a:latin typeface="Lastica Bold"/>
                <a:ea typeface="Lastica Bold"/>
                <a:cs typeface="Lastica Bold"/>
                <a:sym typeface="Lastica Bold"/>
              </a:rPr>
              <a:t>team</a:t>
            </a:r>
            <a:endParaRPr lang="en-US" sz="7720" b="1" spc="918" dirty="0">
              <a:solidFill>
                <a:srgbClr val="3C6CA8"/>
              </a:solidFill>
              <a:latin typeface="Lastica Bold"/>
              <a:ea typeface="Lastica Bold"/>
              <a:cs typeface="Lastica Bold"/>
              <a:sym typeface="Lastica Bold"/>
            </a:endParaRPr>
          </a:p>
        </p:txBody>
      </p:sp>
      <p:sp>
        <p:nvSpPr>
          <p:cNvPr id="3" name="Freeform 3"/>
          <p:cNvSpPr/>
          <p:nvPr/>
        </p:nvSpPr>
        <p:spPr>
          <a:xfrm>
            <a:off x="-2513204" y="6507643"/>
            <a:ext cx="6619707" cy="6818050"/>
          </a:xfrm>
          <a:custGeom>
            <a:avLst/>
            <a:gdLst/>
            <a:ahLst/>
            <a:cxnLst/>
            <a:rect l="l" t="t" r="r" b="b"/>
            <a:pathLst>
              <a:path w="6619707" h="6818050">
                <a:moveTo>
                  <a:pt x="0" y="0"/>
                </a:moveTo>
                <a:lnTo>
                  <a:pt x="6619707" y="0"/>
                </a:lnTo>
                <a:lnTo>
                  <a:pt x="6619707" y="6818050"/>
                </a:lnTo>
                <a:lnTo>
                  <a:pt x="0" y="68180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8" name="Freeform 8"/>
          <p:cNvSpPr/>
          <p:nvPr/>
        </p:nvSpPr>
        <p:spPr>
          <a:xfrm>
            <a:off x="12891974" y="-5120206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5"/>
                </a:lnTo>
                <a:lnTo>
                  <a:pt x="0" y="89963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22" name="TextBox 22"/>
          <p:cNvSpPr txBox="1"/>
          <p:nvPr/>
        </p:nvSpPr>
        <p:spPr>
          <a:xfrm>
            <a:off x="14379688" y="7161512"/>
            <a:ext cx="3021276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 b="1" dirty="0" smtClean="0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Ivan Ivanov </a:t>
            </a:r>
            <a:r>
              <a:rPr lang="en-US" sz="2599" b="1" dirty="0" err="1" smtClean="0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Trifonov</a:t>
            </a:r>
            <a:endParaRPr lang="en-US" sz="2599" b="1" dirty="0">
              <a:solidFill>
                <a:srgbClr val="3C6CA8"/>
              </a:solidFill>
              <a:latin typeface="Cy Grotesk Wide Bold"/>
              <a:ea typeface="Cy Grotesk Wide Bold"/>
              <a:cs typeface="Cy Grotesk Wide Bold"/>
              <a:sym typeface="Cy Grotesk Wide 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930937" y="7084119"/>
            <a:ext cx="3021276" cy="905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 b="1" dirty="0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Martin </a:t>
            </a:r>
            <a:r>
              <a:rPr lang="en-US" sz="2599" b="1" dirty="0" err="1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Atanasov</a:t>
            </a:r>
            <a:r>
              <a:rPr lang="en-US" sz="2599" b="1" dirty="0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 </a:t>
            </a:r>
            <a:r>
              <a:rPr lang="en-US" sz="2599" b="1" dirty="0" err="1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Jelev</a:t>
            </a:r>
            <a:endParaRPr lang="en-US" sz="2599" b="1" dirty="0">
              <a:solidFill>
                <a:srgbClr val="3C6CA8"/>
              </a:solidFill>
              <a:latin typeface="Cy Grotesk Wide Bold"/>
              <a:ea typeface="Cy Grotesk Wide Bold"/>
              <a:cs typeface="Cy Grotesk Wide Bold"/>
              <a:sym typeface="Cy Grotesk Wide Bol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722206" y="8084842"/>
            <a:ext cx="3360659" cy="3425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3"/>
              </a:lnSpc>
            </a:pPr>
            <a:r>
              <a:rPr lang="en-US" sz="2023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SCRUM TRAINER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033387" y="7084119"/>
            <a:ext cx="3659070" cy="1362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 b="1" dirty="0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Dimitar </a:t>
            </a:r>
            <a:r>
              <a:rPr lang="en-US" sz="2599" b="1" dirty="0" err="1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Plamenov</a:t>
            </a:r>
            <a:endParaRPr lang="en-US" sz="2599" b="1" dirty="0">
              <a:solidFill>
                <a:srgbClr val="3C6CA8"/>
              </a:solidFill>
              <a:latin typeface="Cy Grotesk Wide Bold"/>
              <a:ea typeface="Cy Grotesk Wide Bold"/>
              <a:cs typeface="Cy Grotesk Wide Bold"/>
              <a:sym typeface="Cy Grotesk Wide Bold"/>
            </a:endParaRPr>
          </a:p>
          <a:p>
            <a:pPr algn="ctr">
              <a:lnSpc>
                <a:spcPts val="3639"/>
              </a:lnSpc>
            </a:pPr>
            <a:r>
              <a:rPr lang="en-US" sz="2599" b="1" dirty="0" err="1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Nyagalov</a:t>
            </a:r>
            <a:endParaRPr lang="en-US" sz="2599" b="1" dirty="0">
              <a:solidFill>
                <a:srgbClr val="3C6CA8"/>
              </a:solidFill>
              <a:latin typeface="Cy Grotesk Wide Bold"/>
              <a:ea typeface="Cy Grotesk Wide Bold"/>
              <a:cs typeface="Cy Grotesk Wide Bold"/>
              <a:sym typeface="Cy Grotesk Wide Bold"/>
            </a:endParaRPr>
          </a:p>
          <a:p>
            <a:pPr algn="ctr">
              <a:lnSpc>
                <a:spcPts val="3639"/>
              </a:lnSpc>
            </a:pPr>
            <a:endParaRPr lang="en-US" sz="2599" b="1" dirty="0">
              <a:solidFill>
                <a:srgbClr val="3C6CA8"/>
              </a:solidFill>
              <a:latin typeface="Cy Grotesk Wide Bold"/>
              <a:ea typeface="Cy Grotesk Wide Bold"/>
              <a:cs typeface="Cy Grotesk Wide Bold"/>
              <a:sym typeface="Cy Grotesk Wide Bold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5182592" y="8188288"/>
            <a:ext cx="3360659" cy="3211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3"/>
              </a:lnSpc>
            </a:pPr>
            <a:r>
              <a:rPr lang="en-US" sz="2023" dirty="0" smtClean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Designer</a:t>
            </a:r>
            <a:endParaRPr lang="en-US" sz="2023" dirty="0">
              <a:solidFill>
                <a:srgbClr val="3C6CA8"/>
              </a:solidFill>
              <a:latin typeface="Cy Grotesk Wide"/>
              <a:ea typeface="Cy Grotesk Wide"/>
              <a:cs typeface="Cy Grotesk Wide"/>
              <a:sym typeface="Cy Grotesk Wide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9856348" y="7073436"/>
            <a:ext cx="3021276" cy="905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 b="1" dirty="0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Georgi </a:t>
            </a:r>
            <a:r>
              <a:rPr lang="en-US" sz="2599" b="1" dirty="0" err="1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Ivaylov</a:t>
            </a:r>
            <a:r>
              <a:rPr lang="en-US" sz="2599" b="1" dirty="0">
                <a:solidFill>
                  <a:srgbClr val="3C6CA8"/>
                </a:solidFill>
                <a:latin typeface="Cy Grotesk Wide Bold"/>
                <a:ea typeface="Cy Grotesk Wide Bold"/>
                <a:cs typeface="Cy Grotesk Wide Bold"/>
                <a:sym typeface="Cy Grotesk Wide Bold"/>
              </a:rPr>
              <a:t> Nikolov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637666" y="8084842"/>
            <a:ext cx="3360659" cy="718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3"/>
              </a:lnSpc>
            </a:pPr>
            <a:r>
              <a:rPr lang="en-US" sz="2023" dirty="0" smtClean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BACK-END </a:t>
            </a:r>
            <a:r>
              <a:rPr lang="en-US" sz="2023" dirty="0">
                <a:solidFill>
                  <a:srgbClr val="3C6CA8"/>
                </a:solidFill>
                <a:latin typeface="Cy Grotesk Wide"/>
                <a:ea typeface="Cy Grotesk Wide"/>
                <a:cs typeface="Cy Grotesk Wide"/>
                <a:sym typeface="Cy Grotesk Wide"/>
              </a:rPr>
              <a:t>DEVELOPER</a:t>
            </a:r>
          </a:p>
        </p:txBody>
      </p:sp>
      <p:pic>
        <p:nvPicPr>
          <p:cNvPr id="1026" name="Picture 2" descr="https://avatars.githubusercontent.com/u/181150574?v=4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79595" y="3005734"/>
            <a:ext cx="4021462" cy="4021463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</p:pic>
      <p:pic>
        <p:nvPicPr>
          <p:cNvPr id="1028" name="Picture 4" descr="View Martin-Zhelev's full-sized avatar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375" y="2924617"/>
            <a:ext cx="3962400" cy="3962402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View DimitarNyagalov's full-sized avatar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1467" y="2892729"/>
            <a:ext cx="3982911" cy="3982913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AutoShape 12" descr="Георги Ивайлов Николов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bg-BG"/>
          </a:p>
        </p:txBody>
      </p:sp>
      <p:sp>
        <p:nvSpPr>
          <p:cNvPr id="32" name="AutoShape 14" descr="Георги Ивайлов Николов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bg-BG"/>
          </a:p>
        </p:txBody>
      </p:sp>
      <p:sp>
        <p:nvSpPr>
          <p:cNvPr id="33" name="AutoShape 16" descr="Георги Ивайлов Николов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bg-BG"/>
          </a:p>
        </p:txBody>
      </p:sp>
      <p:pic>
        <p:nvPicPr>
          <p:cNvPr id="34" name="Картина 33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6586" y="2898846"/>
            <a:ext cx="4120801" cy="404683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35" name="Картина 3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210732" y="8219157"/>
            <a:ext cx="3359187" cy="8961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57342" y="4581047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6"/>
                </a:lnTo>
                <a:lnTo>
                  <a:pt x="0" y="89963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3" name="Freeform 3"/>
          <p:cNvSpPr/>
          <p:nvPr/>
        </p:nvSpPr>
        <p:spPr>
          <a:xfrm>
            <a:off x="12891974" y="-5120206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5"/>
                </a:lnTo>
                <a:lnTo>
                  <a:pt x="0" y="89963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5" name="Freeform 5">
            <a:hlinkClick r:id="rId6"/>
          </p:cNvPr>
          <p:cNvSpPr/>
          <p:nvPr/>
        </p:nvSpPr>
        <p:spPr>
          <a:xfrm>
            <a:off x="14055443" y="4191567"/>
            <a:ext cx="1913938" cy="1903865"/>
          </a:xfrm>
          <a:custGeom>
            <a:avLst/>
            <a:gdLst/>
            <a:ahLst/>
            <a:cxnLst/>
            <a:rect l="l" t="t" r="r" b="b"/>
            <a:pathLst>
              <a:path w="1913938" h="1903865">
                <a:moveTo>
                  <a:pt x="0" y="0"/>
                </a:moveTo>
                <a:lnTo>
                  <a:pt x="1913938" y="0"/>
                </a:lnTo>
                <a:lnTo>
                  <a:pt x="1913938" y="1903866"/>
                </a:lnTo>
                <a:lnTo>
                  <a:pt x="0" y="190386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6" name="Freeform 6">
            <a:hlinkClick r:id="rId8"/>
          </p:cNvPr>
          <p:cNvSpPr>
            <a:spLocks/>
          </p:cNvSpPr>
          <p:nvPr/>
        </p:nvSpPr>
        <p:spPr>
          <a:xfrm>
            <a:off x="11312178" y="4191567"/>
            <a:ext cx="1692060" cy="1903865"/>
          </a:xfrm>
          <a:custGeom>
            <a:avLst/>
            <a:gdLst/>
            <a:ahLst/>
            <a:cxnLst/>
            <a:rect l="l" t="t" r="r" b="b"/>
            <a:pathLst>
              <a:path w="1692060" h="1903865">
                <a:moveTo>
                  <a:pt x="0" y="0"/>
                </a:moveTo>
                <a:lnTo>
                  <a:pt x="1692060" y="0"/>
                </a:lnTo>
                <a:lnTo>
                  <a:pt x="1692060" y="1903866"/>
                </a:lnTo>
                <a:lnTo>
                  <a:pt x="0" y="190386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7" name="Freeform 7">
            <a:hlinkClick r:id="rId10"/>
          </p:cNvPr>
          <p:cNvSpPr/>
          <p:nvPr/>
        </p:nvSpPr>
        <p:spPr>
          <a:xfrm>
            <a:off x="8300153" y="4191567"/>
            <a:ext cx="1903865" cy="1903865"/>
          </a:xfrm>
          <a:custGeom>
            <a:avLst/>
            <a:gdLst/>
            <a:ahLst/>
            <a:cxnLst/>
            <a:rect l="l" t="t" r="r" b="b"/>
            <a:pathLst>
              <a:path w="1903865" h="1903865">
                <a:moveTo>
                  <a:pt x="0" y="0"/>
                </a:moveTo>
                <a:lnTo>
                  <a:pt x="1903865" y="0"/>
                </a:lnTo>
                <a:lnTo>
                  <a:pt x="1903865" y="1903866"/>
                </a:lnTo>
                <a:lnTo>
                  <a:pt x="0" y="190386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8" name="Freeform 8">
            <a:hlinkClick r:id="rId12"/>
          </p:cNvPr>
          <p:cNvSpPr/>
          <p:nvPr/>
        </p:nvSpPr>
        <p:spPr>
          <a:xfrm>
            <a:off x="8352510" y="6809655"/>
            <a:ext cx="1851509" cy="1903865"/>
          </a:xfrm>
          <a:custGeom>
            <a:avLst/>
            <a:gdLst/>
            <a:ahLst/>
            <a:cxnLst/>
            <a:rect l="l" t="t" r="r" b="b"/>
            <a:pathLst>
              <a:path w="1851509" h="1903865">
                <a:moveTo>
                  <a:pt x="0" y="0"/>
                </a:moveTo>
                <a:lnTo>
                  <a:pt x="1851508" y="0"/>
                </a:lnTo>
                <a:lnTo>
                  <a:pt x="1851508" y="1903865"/>
                </a:lnTo>
                <a:lnTo>
                  <a:pt x="0" y="190386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9" name="Freeform 9">
            <a:hlinkClick r:id="rId14"/>
          </p:cNvPr>
          <p:cNvSpPr/>
          <p:nvPr/>
        </p:nvSpPr>
        <p:spPr>
          <a:xfrm>
            <a:off x="11175568" y="6809655"/>
            <a:ext cx="1965280" cy="1903865"/>
          </a:xfrm>
          <a:custGeom>
            <a:avLst/>
            <a:gdLst/>
            <a:ahLst/>
            <a:cxnLst/>
            <a:rect l="l" t="t" r="r" b="b"/>
            <a:pathLst>
              <a:path w="1965280" h="1903865">
                <a:moveTo>
                  <a:pt x="0" y="0"/>
                </a:moveTo>
                <a:lnTo>
                  <a:pt x="1965280" y="0"/>
                </a:lnTo>
                <a:lnTo>
                  <a:pt x="1965280" y="1903865"/>
                </a:lnTo>
                <a:lnTo>
                  <a:pt x="0" y="190386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10" name="Freeform 10">
            <a:hlinkClick r:id="rId16"/>
          </p:cNvPr>
          <p:cNvSpPr/>
          <p:nvPr/>
        </p:nvSpPr>
        <p:spPr>
          <a:xfrm>
            <a:off x="14167849" y="6809655"/>
            <a:ext cx="1801532" cy="1903865"/>
          </a:xfrm>
          <a:custGeom>
            <a:avLst/>
            <a:gdLst/>
            <a:ahLst/>
            <a:cxnLst/>
            <a:rect l="l" t="t" r="r" b="b"/>
            <a:pathLst>
              <a:path w="1801532" h="1903865">
                <a:moveTo>
                  <a:pt x="0" y="0"/>
                </a:moveTo>
                <a:lnTo>
                  <a:pt x="1801532" y="0"/>
                </a:lnTo>
                <a:lnTo>
                  <a:pt x="1801532" y="1903865"/>
                </a:lnTo>
                <a:lnTo>
                  <a:pt x="0" y="190386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11" name="Freeform 11">
            <a:hlinkClick r:id="rId18"/>
          </p:cNvPr>
          <p:cNvSpPr/>
          <p:nvPr/>
        </p:nvSpPr>
        <p:spPr>
          <a:xfrm>
            <a:off x="5693481" y="4191567"/>
            <a:ext cx="1903865" cy="1903865"/>
          </a:xfrm>
          <a:custGeom>
            <a:avLst/>
            <a:gdLst/>
            <a:ahLst/>
            <a:cxnLst/>
            <a:rect l="l" t="t" r="r" b="b"/>
            <a:pathLst>
              <a:path w="1903865" h="1903865">
                <a:moveTo>
                  <a:pt x="0" y="0"/>
                </a:moveTo>
                <a:lnTo>
                  <a:pt x="1903865" y="0"/>
                </a:lnTo>
                <a:lnTo>
                  <a:pt x="1903865" y="1903866"/>
                </a:lnTo>
                <a:lnTo>
                  <a:pt x="0" y="190386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12" name="TextBox 12"/>
          <p:cNvSpPr txBox="1"/>
          <p:nvPr/>
        </p:nvSpPr>
        <p:spPr>
          <a:xfrm>
            <a:off x="1494431" y="2771259"/>
            <a:ext cx="15515310" cy="1104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1" spc="714" dirty="0">
                <a:solidFill>
                  <a:srgbClr val="3C6CA8"/>
                </a:solidFill>
                <a:latin typeface="Lastica Bold"/>
                <a:ea typeface="Lastica Bold"/>
                <a:cs typeface="Lastica Bold"/>
                <a:sym typeface="Lastica Bold"/>
              </a:rPr>
              <a:t>Technologies used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57342" y="4581047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6"/>
                </a:lnTo>
                <a:lnTo>
                  <a:pt x="0" y="89963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3" name="Freeform 3"/>
          <p:cNvSpPr/>
          <p:nvPr/>
        </p:nvSpPr>
        <p:spPr>
          <a:xfrm>
            <a:off x="12891974" y="-5120206"/>
            <a:ext cx="8734653" cy="8996365"/>
          </a:xfrm>
          <a:custGeom>
            <a:avLst/>
            <a:gdLst/>
            <a:ahLst/>
            <a:cxnLst/>
            <a:rect l="l" t="t" r="r" b="b"/>
            <a:pathLst>
              <a:path w="8734653" h="8996365">
                <a:moveTo>
                  <a:pt x="0" y="0"/>
                </a:moveTo>
                <a:lnTo>
                  <a:pt x="8734652" y="0"/>
                </a:lnTo>
                <a:lnTo>
                  <a:pt x="8734652" y="8996365"/>
                </a:lnTo>
                <a:lnTo>
                  <a:pt x="0" y="89963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5" name="TextBox 5"/>
          <p:cNvSpPr txBox="1"/>
          <p:nvPr/>
        </p:nvSpPr>
        <p:spPr>
          <a:xfrm>
            <a:off x="2127816" y="2744127"/>
            <a:ext cx="14032368" cy="33255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216"/>
              </a:lnSpc>
            </a:pPr>
            <a:r>
              <a:rPr lang="en-AU" sz="9600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LET’S CONTINUE WITH THE GAME</a:t>
            </a:r>
            <a:r>
              <a:rPr lang="en-AU" sz="9600" dirty="0" smtClean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!</a:t>
            </a:r>
            <a:endParaRPr lang="en-US" sz="9440" b="1" spc="1123" dirty="0">
              <a:solidFill>
                <a:srgbClr val="3C6CA8"/>
              </a:solidFill>
              <a:latin typeface="Lastica Bold"/>
              <a:ea typeface="Lastica Bold"/>
              <a:cs typeface="Lastica Bold"/>
              <a:sym typeface="Lastica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169</Words>
  <Application>Microsoft Office PowerPoint</Application>
  <PresentationFormat>По избор</PresentationFormat>
  <Paragraphs>22</Paragraphs>
  <Slides>6</Slides>
  <Notes>0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6</vt:i4>
      </vt:variant>
    </vt:vector>
  </HeadingPairs>
  <TitlesOfParts>
    <vt:vector size="13" baseType="lpstr">
      <vt:lpstr>Calibri</vt:lpstr>
      <vt:lpstr>Arial</vt:lpstr>
      <vt:lpstr>Cy Grotesk Wide</vt:lpstr>
      <vt:lpstr>Cy Grotesk Wide Bold</vt:lpstr>
      <vt:lpstr>Arial Black</vt:lpstr>
      <vt:lpstr>Lastica Bold</vt:lpstr>
      <vt:lpstr>Office Theme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 Legends</dc:title>
  <dc:creator>Пламен</dc:creator>
  <cp:lastModifiedBy>Home</cp:lastModifiedBy>
  <cp:revision>11</cp:revision>
  <dcterms:created xsi:type="dcterms:W3CDTF">2006-08-16T00:00:00Z</dcterms:created>
  <dcterms:modified xsi:type="dcterms:W3CDTF">2026-03-20T19:16:02Z</dcterms:modified>
  <dc:identifier>DAG6fRJF_m8</dc:identifier>
</cp:coreProperties>
</file>
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63" r:id="rId3"/>
    <p:sldId id="267" r:id="rId4"/>
    <p:sldId id="264" r:id="rId5"/>
    <p:sldId id="265" r:id="rId6"/>
    <p:sldId id="266" r:id="rId7"/>
  </p:sldIdLst>
  <p:sldSz cx="18288000" cy="10287000"/>
  <p:notesSz cx="6858000" cy="9144000"/>
  <p:embeddedFontLst>
    <p:embeddedFont>
      <p:font typeface="Arial Black" panose="020B0A04020102020204" pitchFamily="34" charset="0"/>
      <p:bold r:id="rId8"/>
    </p:embeddedFont>
    <p:embeddedFont>
      <p:font typeface="Cy Grotesk Wide" panose="020B0604020202020204" charset="-52"/>
      <p:regular r:id="rId9"/>
    </p:embeddedFont>
    <p:embeddedFont>
      <p:font typeface="Cy Grotesk Wide Bold" panose="020B0604020202020204" charset="-52"/>
      <p:regular r:id="rId10"/>
    </p:embeddedFont>
    <p:embeddedFont>
      <p:font typeface="Lastica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8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8" Type="http://schemas.openxmlformats.org/officeDocument/2006/relationships/hyperlink" Target="https://www.cplusplus.com/" TargetMode="External"/><Relationship Id="rId13" Type="http://schemas.openxmlformats.org/officeDocument/2006/relationships/image" Target="../media/image13.png"/><Relationship Id="rId18" Type="http://schemas.openxmlformats.org/officeDocument/2006/relationships/hyperlink" Target="https://git-scm.com/" TargetMode="External"/><Relationship Id="rId3" Type="http://schemas.openxmlformats.org/officeDocument/2006/relationships/image" Target="../media/image2.svg"/><Relationship Id="rId7" Type="http://schemas.openxmlformats.org/officeDocument/2006/relationships/image" Target="../media/image10.png"/><Relationship Id="rId12" Type="http://schemas.openxmlformats.org/officeDocument/2006/relationships/hyperlink" Target="https://www.microsoft.com/en-ww/microsoft-365/word" TargetMode="External"/><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hyperlink" Target="https://www.microsoft.com/en/microsoft-teams/group-chat-software" TargetMode="External"/><Relationship Id="rId1" Type="http://schemas.openxmlformats.org/officeDocument/2006/relationships/slideLayout" Target="../slideLayouts/slideLayout7.xml"/><Relationship Id="rId6" Type="http://schemas.openxmlformats.org/officeDocument/2006/relationships/hyperlink" Target="https://github.com/" TargetMode="External"/><Relationship Id="rId11" Type="http://schemas.openxmlformats.org/officeDocument/2006/relationships/image" Target="../media/image12.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hyperlink" Target="https://visualstudio.microsoft.com/vs/" TargetMode="External"/><Relationship Id="rId19"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1.png"/><Relationship Id="rId14" Type="http://schemas.openxmlformats.org/officeDocument/2006/relationships/hyperlink" Target="https://www.microsoft.com/en-ww/microsoft-365/powerpoin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p:cNvGrpSpPr/>
        <p:nvPr/>
      </p:nvGrpSpPr>
      <p:grpSpPr>
        <a:xfrm>
          <a:off x="0" y="0"/>
          <a:ext cx="0" cy="0"/>
          <a:chOff x="0" y="0"/>
          <a:chExt cx="0" cy="0"/>
        </a:xfrm>
      </p:grpSpPr>
      <p:sp>
        <p:nvSpPr>
          <p:cNvPr id="2" name="Freeform 2"/>
          <p:cNvSpPr/>
          <p:nvPr/>
        </p:nvSpPr>
        <p:spPr>
          <a:xfrm>
            <a:off x="-1357342" y="4581047"/>
            <a:ext cx="8734653" cy="8996365"/>
          </a:xfrm>
          <a:custGeom>
            <a:avLst/>
            <a:gdLst/>
            <a:ahLst/>
            <a:cxnLst/>
            <a:rect l="l" t="t" r="r" b="b"/>
            <a:pathLst>
              <a:path w="8734653" h="8996365">
                <a:moveTo>
                  <a:pt x="0" y="0"/>
                </a:moveTo>
                <a:lnTo>
                  <a:pt x="8734652" y="0"/>
                </a:lnTo>
                <a:lnTo>
                  <a:pt x="8734652" y="8996366"/>
                </a:lnTo>
                <a:lnTo>
                  <a:pt x="0" y="89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bg-BG"/>
          </a:p>
        </p:txBody>
      </p:sp>
      <p:sp>
        <p:nvSpPr>
          <p:cNvPr id="3" name="Freeform 3"/>
          <p:cNvSpPr/>
          <p:nvPr/>
        </p:nvSpPr>
        <p:spPr>
          <a:xfrm>
            <a:off x="12891974" y="-5120206"/>
            <a:ext cx="8734653" cy="8996365"/>
          </a:xfrm>
          <a:custGeom>
            <a:avLst/>
            <a:gdLst/>
            <a:ahLst/>
            <a:cxnLst/>
            <a:rect l="l" t="t" r="r" b="b"/>
            <a:pathLst>
              <a:path w="8734653" h="8996365">
                <a:moveTo>
                  <a:pt x="0" y="0"/>
                </a:moveTo>
                <a:lnTo>
                  <a:pt x="8734652" y="0"/>
                </a:lnTo>
                <a:lnTo>
                  <a:pt x="8734652" y="8996365"/>
                </a:lnTo>
                <a:lnTo>
                  <a:pt x="0" y="8996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bg-BG"/>
          </a:p>
        </p:txBody>
      </p:sp>
      <p:sp>
        <p:nvSpPr>
          <p:cNvPr id="5" name="TextBox 5"/>
          <p:cNvSpPr txBox="1"/>
          <p:nvPr/>
        </p:nvSpPr>
        <p:spPr>
          <a:xfrm>
            <a:off x="2127816" y="2744127"/>
            <a:ext cx="14032368" cy="3325526"/>
          </a:xfrm>
          <a:prstGeom prst="rect">
            <a:avLst/>
          </a:prstGeom>
        </p:spPr>
        <p:txBody>
          <a:bodyPr lIns="0" tIns="0" rIns="0" bIns="0" rtlCol="0" anchor="t">
            <a:spAutoFit/>
          </a:bodyPr>
          <a:lstStyle/>
          <a:p>
            <a:pPr algn="ctr">
              <a:lnSpc>
                <a:spcPts val="13216"/>
              </a:lnSpc>
            </a:pPr>
            <a:r>
              <a:rPr lang="en-US" sz="9440" b="1" spc="1123" dirty="0">
                <a:solidFill>
                  <a:srgbClr val="3C6CA8"/>
                </a:solidFill>
                <a:latin typeface="Lastica Bold"/>
                <a:ea typeface="Lastica Bold"/>
                <a:cs typeface="Lastica Bold"/>
                <a:sym typeface="Lastica Bold"/>
              </a:rPr>
              <a:t>Knowledge Engine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p:cNvGrpSpPr/>
        <p:nvPr/>
      </p:nvGrpSpPr>
      <p:grpSpPr>
        <a:xfrm>
          <a:off x="0" y="0"/>
          <a:ext cx="0" cy="0"/>
          <a:chOff x="0" y="0"/>
          <a:chExt cx="0" cy="0"/>
        </a:xfrm>
      </p:grpSpPr>
      <p:sp>
        <p:nvSpPr>
          <p:cNvPr id="2" name="Freeform 2"/>
          <p:cNvSpPr/>
          <p:nvPr/>
        </p:nvSpPr>
        <p:spPr>
          <a:xfrm>
            <a:off x="-1357342" y="4581047"/>
            <a:ext cx="8734653" cy="8996365"/>
          </a:xfrm>
          <a:custGeom>
            <a:avLst/>
            <a:gdLst/>
            <a:ahLst/>
            <a:cxnLst/>
            <a:rect l="l" t="t" r="r" b="b"/>
            <a:pathLst>
              <a:path w="8734653" h="8996365">
                <a:moveTo>
                  <a:pt x="0" y="0"/>
                </a:moveTo>
                <a:lnTo>
                  <a:pt x="8734652" y="0"/>
                </a:lnTo>
                <a:lnTo>
                  <a:pt x="8734652" y="8996366"/>
                </a:lnTo>
                <a:lnTo>
                  <a:pt x="0" y="89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bg-BG"/>
          </a:p>
        </p:txBody>
      </p:sp>
      <p:sp>
        <p:nvSpPr>
          <p:cNvPr id="3" name="Freeform 3"/>
          <p:cNvSpPr/>
          <p:nvPr/>
        </p:nvSpPr>
        <p:spPr>
          <a:xfrm>
            <a:off x="12891974" y="-5120206"/>
            <a:ext cx="8734653" cy="8996365"/>
          </a:xfrm>
          <a:custGeom>
            <a:avLst/>
            <a:gdLst/>
            <a:ahLst/>
            <a:cxnLst/>
            <a:rect l="l" t="t" r="r" b="b"/>
            <a:pathLst>
              <a:path w="8734653" h="8996365">
                <a:moveTo>
                  <a:pt x="0" y="0"/>
                </a:moveTo>
                <a:lnTo>
                  <a:pt x="8734652" y="0"/>
                </a:lnTo>
                <a:lnTo>
                  <a:pt x="8734652" y="8996365"/>
                </a:lnTo>
                <a:lnTo>
                  <a:pt x="0" y="8996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bg-BG"/>
          </a:p>
        </p:txBody>
      </p:sp>
      <p:sp>
        <p:nvSpPr>
          <p:cNvPr id="5" name="TextBox 5"/>
          <p:cNvSpPr txBox="1"/>
          <p:nvPr/>
        </p:nvSpPr>
        <p:spPr>
          <a:xfrm>
            <a:off x="685800" y="5957623"/>
            <a:ext cx="9902028" cy="2077492"/>
          </a:xfrm>
          <a:prstGeom prst="rect">
            <a:avLst/>
          </a:prstGeom>
        </p:spPr>
        <p:txBody>
          <a:bodyPr lIns="0" tIns="0" rIns="0" bIns="0" rtlCol="0" anchor="t">
            <a:spAutoFit/>
          </a:bodyPr>
          <a:lstStyle/>
          <a:p>
            <a:pPr marL="589890" lvl="1" indent="-294945" algn="just">
              <a:lnSpc>
                <a:spcPts val="2732"/>
              </a:lnSpc>
              <a:buFont typeface="Arial"/>
              <a:buChar char="•"/>
            </a:pPr>
            <a:r>
              <a:rPr lang="en-US" sz="2732" dirty="0">
                <a:solidFill>
                  <a:schemeClr val="accent1">
                    <a:lumMod val="75000"/>
                  </a:schemeClr>
                </a:solidFill>
                <a:latin typeface="Cy Grotesk Wide"/>
                <a:ea typeface="Cy Grotesk Wide"/>
                <a:cs typeface="Cy Grotesk Wide"/>
                <a:sym typeface="Cy Grotesk Wide"/>
              </a:rPr>
              <a:t>Randomly generated math questions</a:t>
            </a:r>
          </a:p>
          <a:p>
            <a:pPr marL="589890" lvl="1" indent="-294945" algn="just">
              <a:lnSpc>
                <a:spcPts val="2732"/>
              </a:lnSpc>
              <a:buFont typeface="Arial"/>
              <a:buChar char="•"/>
            </a:pPr>
            <a:endParaRPr lang="en-US" sz="2732" dirty="0">
              <a:solidFill>
                <a:schemeClr val="accent1">
                  <a:lumMod val="75000"/>
                </a:schemeClr>
              </a:solidFill>
              <a:latin typeface="Cy Grotesk Wide"/>
              <a:ea typeface="Cy Grotesk Wide"/>
              <a:cs typeface="Cy Grotesk Wide"/>
              <a:sym typeface="Cy Grotesk Wide"/>
            </a:endParaRPr>
          </a:p>
          <a:p>
            <a:pPr marL="589890" lvl="1" indent="-294945" algn="just">
              <a:lnSpc>
                <a:spcPts val="2732"/>
              </a:lnSpc>
              <a:buFont typeface="Arial"/>
              <a:buChar char="•"/>
            </a:pPr>
            <a:r>
              <a:rPr lang="en-US" sz="2732" dirty="0">
                <a:solidFill>
                  <a:schemeClr val="accent1">
                    <a:lumMod val="75000"/>
                  </a:schemeClr>
                </a:solidFill>
                <a:latin typeface="Cy Grotesk Wide"/>
                <a:ea typeface="Cy Grotesk Wide"/>
                <a:cs typeface="Cy Grotesk Wide"/>
                <a:sym typeface="Cy Grotesk Wide"/>
              </a:rPr>
              <a:t>Makes learning math easier</a:t>
            </a:r>
          </a:p>
          <a:p>
            <a:pPr marL="589890" lvl="1" indent="-294945" algn="just">
              <a:lnSpc>
                <a:spcPts val="2732"/>
              </a:lnSpc>
              <a:buFont typeface="Arial"/>
              <a:buChar char="•"/>
            </a:pPr>
            <a:endParaRPr lang="en-US" sz="2732" dirty="0">
              <a:solidFill>
                <a:schemeClr val="accent1">
                  <a:lumMod val="75000"/>
                </a:schemeClr>
              </a:solidFill>
              <a:latin typeface="Cy Grotesk Wide"/>
              <a:ea typeface="Cy Grotesk Wide"/>
              <a:cs typeface="Cy Grotesk Wide"/>
              <a:sym typeface="Cy Grotesk Wide"/>
            </a:endParaRPr>
          </a:p>
          <a:p>
            <a:pPr marL="589890" lvl="1" indent="-294945" algn="just">
              <a:lnSpc>
                <a:spcPts val="2732"/>
              </a:lnSpc>
              <a:buFont typeface="Arial"/>
              <a:buChar char="•"/>
            </a:pPr>
            <a:r>
              <a:rPr lang="en-US" sz="2732" dirty="0">
                <a:solidFill>
                  <a:schemeClr val="accent1">
                    <a:lumMod val="75000"/>
                  </a:schemeClr>
                </a:solidFill>
                <a:latin typeface="Cy Grotesk Wide"/>
                <a:ea typeface="Cy Grotesk Wide"/>
                <a:cs typeface="Cy Grotesk Wide"/>
                <a:sym typeface="Cy Grotesk Wide"/>
              </a:rPr>
              <a:t>Compares your test scores against others</a:t>
            </a:r>
          </a:p>
          <a:p>
            <a:pPr marL="589890" lvl="1" indent="-294945" algn="just">
              <a:lnSpc>
                <a:spcPts val="2732"/>
              </a:lnSpc>
              <a:buFont typeface="Arial"/>
              <a:buChar char="•"/>
            </a:pPr>
            <a:endParaRPr lang="en-US" sz="2732" dirty="0">
              <a:solidFill>
                <a:schemeClr val="accent1">
                  <a:lumMod val="75000"/>
                </a:schemeClr>
              </a:solidFill>
              <a:latin typeface="Cy Grotesk Wide"/>
              <a:ea typeface="Cy Grotesk Wide"/>
              <a:cs typeface="Cy Grotesk Wide"/>
              <a:sym typeface="Cy Grotesk Wide"/>
            </a:endParaRPr>
          </a:p>
        </p:txBody>
      </p:sp>
      <p:sp>
        <p:nvSpPr>
          <p:cNvPr id="6" name="TextBox 6"/>
          <p:cNvSpPr txBox="1"/>
          <p:nvPr/>
        </p:nvSpPr>
        <p:spPr>
          <a:xfrm>
            <a:off x="1494431" y="2771259"/>
            <a:ext cx="15515310" cy="1038746"/>
          </a:xfrm>
          <a:prstGeom prst="rect">
            <a:avLst/>
          </a:prstGeom>
        </p:spPr>
        <p:txBody>
          <a:bodyPr lIns="0" tIns="0" rIns="0" bIns="0" rtlCol="0" anchor="t">
            <a:spAutoFit/>
          </a:bodyPr>
          <a:lstStyle/>
          <a:p>
            <a:pPr algn="ctr">
              <a:lnSpc>
                <a:spcPts val="8400"/>
              </a:lnSpc>
            </a:pPr>
            <a:r>
              <a:rPr lang="en-US" sz="6000" b="1" spc="714" dirty="0">
                <a:solidFill>
                  <a:srgbClr val="3C6CA8"/>
                </a:solidFill>
                <a:latin typeface="Lastica Bold"/>
                <a:ea typeface="Lastica Bold"/>
                <a:cs typeface="Lastica Bold"/>
                <a:sym typeface="Lastica Bold"/>
              </a:rPr>
              <a:t>Features</a:t>
            </a:r>
          </a:p>
        </p:txBody>
      </p:sp>
      <p:sp>
        <p:nvSpPr>
          <p:cNvPr id="7" name="AutoShape 2" descr="Александра Якимчук"/>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a:extLst>
            <a:ext uri="{FF2B5EF4-FFF2-40B4-BE49-F238E27FC236}">
              <a16:creationId xmlns:a16="http://schemas.microsoft.com/office/drawing/2014/main" id="{028A556B-6024-9F43-0951-578155245C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0C926AA-8380-021C-703A-65E1A80C3B5E}"/>
              </a:ext>
            </a:extLst>
          </p:cNvPr>
          <p:cNvSpPr/>
          <p:nvPr/>
        </p:nvSpPr>
        <p:spPr>
          <a:xfrm>
            <a:off x="-1357342" y="4581047"/>
            <a:ext cx="8734653" cy="8996365"/>
          </a:xfrm>
          <a:custGeom>
            <a:avLst/>
            <a:gdLst/>
            <a:ahLst/>
            <a:cxnLst/>
            <a:rect l="l" t="t" r="r" b="b"/>
            <a:pathLst>
              <a:path w="8734653" h="8996365">
                <a:moveTo>
                  <a:pt x="0" y="0"/>
                </a:moveTo>
                <a:lnTo>
                  <a:pt x="8734652" y="0"/>
                </a:lnTo>
                <a:lnTo>
                  <a:pt x="8734652" y="8996366"/>
                </a:lnTo>
                <a:lnTo>
                  <a:pt x="0" y="89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bg-BG"/>
          </a:p>
        </p:txBody>
      </p:sp>
      <p:sp>
        <p:nvSpPr>
          <p:cNvPr id="3" name="Freeform 3">
            <a:extLst>
              <a:ext uri="{FF2B5EF4-FFF2-40B4-BE49-F238E27FC236}">
                <a16:creationId xmlns:a16="http://schemas.microsoft.com/office/drawing/2014/main" id="{7B5289A8-CFAC-93E1-41E4-E938741253A1}"/>
              </a:ext>
            </a:extLst>
          </p:cNvPr>
          <p:cNvSpPr/>
          <p:nvPr/>
        </p:nvSpPr>
        <p:spPr>
          <a:xfrm>
            <a:off x="12891974" y="-5120206"/>
            <a:ext cx="8734653" cy="8996365"/>
          </a:xfrm>
          <a:custGeom>
            <a:avLst/>
            <a:gdLst/>
            <a:ahLst/>
            <a:cxnLst/>
            <a:rect l="l" t="t" r="r" b="b"/>
            <a:pathLst>
              <a:path w="8734653" h="8996365">
                <a:moveTo>
                  <a:pt x="0" y="0"/>
                </a:moveTo>
                <a:lnTo>
                  <a:pt x="8734652" y="0"/>
                </a:lnTo>
                <a:lnTo>
                  <a:pt x="8734652" y="8996365"/>
                </a:lnTo>
                <a:lnTo>
                  <a:pt x="0" y="8996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bg-BG"/>
          </a:p>
        </p:txBody>
      </p:sp>
      <p:sp>
        <p:nvSpPr>
          <p:cNvPr id="5" name="TextBox 5">
            <a:extLst>
              <a:ext uri="{FF2B5EF4-FFF2-40B4-BE49-F238E27FC236}">
                <a16:creationId xmlns:a16="http://schemas.microsoft.com/office/drawing/2014/main" id="{95745D43-22D7-D8CE-0B59-09467208CA87}"/>
              </a:ext>
            </a:extLst>
          </p:cNvPr>
          <p:cNvSpPr txBox="1"/>
          <p:nvPr/>
        </p:nvSpPr>
        <p:spPr>
          <a:xfrm>
            <a:off x="838200" y="5114476"/>
            <a:ext cx="17068800" cy="1731243"/>
          </a:xfrm>
          <a:prstGeom prst="rect">
            <a:avLst/>
          </a:prstGeom>
        </p:spPr>
        <p:txBody>
          <a:bodyPr wrap="square" lIns="0" tIns="0" rIns="0" bIns="0" rtlCol="0" anchor="t">
            <a:spAutoFit/>
          </a:bodyPr>
          <a:lstStyle/>
          <a:p>
            <a:pPr marL="589890" lvl="1" indent="-294945" algn="just">
              <a:lnSpc>
                <a:spcPts val="2732"/>
              </a:lnSpc>
              <a:buFont typeface="Arial"/>
              <a:buChar char="•"/>
            </a:pPr>
            <a:r>
              <a:rPr lang="en-US" sz="2732" dirty="0">
                <a:solidFill>
                  <a:schemeClr val="accent1">
                    <a:lumMod val="75000"/>
                  </a:schemeClr>
                </a:solidFill>
                <a:latin typeface="Cy Grotesk Wide"/>
                <a:ea typeface="Cy Grotesk Wide"/>
                <a:cs typeface="Cy Grotesk Wide"/>
                <a:sym typeface="Cy Grotesk Wide"/>
              </a:rPr>
              <a:t>The Goal of this project is to make math easier to understand. The app we have created has information that the users can use to learn the material they struggle with or simply practice. After that they can open one of our tests and practice the things they’ve learned from the info our team has provided. After completion the users can see their score and how far they have come. </a:t>
            </a:r>
          </a:p>
        </p:txBody>
      </p:sp>
      <p:sp>
        <p:nvSpPr>
          <p:cNvPr id="6" name="TextBox 6">
            <a:extLst>
              <a:ext uri="{FF2B5EF4-FFF2-40B4-BE49-F238E27FC236}">
                <a16:creationId xmlns:a16="http://schemas.microsoft.com/office/drawing/2014/main" id="{90980952-9FF1-A8E1-613F-8AD109D019C0}"/>
              </a:ext>
            </a:extLst>
          </p:cNvPr>
          <p:cNvSpPr txBox="1"/>
          <p:nvPr/>
        </p:nvSpPr>
        <p:spPr>
          <a:xfrm>
            <a:off x="1494431" y="2771259"/>
            <a:ext cx="15515310" cy="1038746"/>
          </a:xfrm>
          <a:prstGeom prst="rect">
            <a:avLst/>
          </a:prstGeom>
        </p:spPr>
        <p:txBody>
          <a:bodyPr lIns="0" tIns="0" rIns="0" bIns="0" rtlCol="0" anchor="t">
            <a:spAutoFit/>
          </a:bodyPr>
          <a:lstStyle/>
          <a:p>
            <a:pPr algn="ctr">
              <a:lnSpc>
                <a:spcPts val="8400"/>
              </a:lnSpc>
            </a:pPr>
            <a:r>
              <a:rPr lang="de-DE" sz="6000" b="1" spc="714" dirty="0" err="1">
                <a:solidFill>
                  <a:srgbClr val="3C6CA8"/>
                </a:solidFill>
                <a:latin typeface="Lastica Bold"/>
                <a:ea typeface="Lastica Bold"/>
                <a:cs typeface="Lastica Bold"/>
                <a:sym typeface="Lastica Bold"/>
              </a:rPr>
              <a:t>Our</a:t>
            </a:r>
            <a:r>
              <a:rPr lang="de-DE" sz="6000" b="1" spc="714" dirty="0">
                <a:solidFill>
                  <a:srgbClr val="3C6CA8"/>
                </a:solidFill>
                <a:latin typeface="Lastica Bold"/>
                <a:ea typeface="Lastica Bold"/>
                <a:cs typeface="Lastica Bold"/>
                <a:sym typeface="Lastica Bold"/>
              </a:rPr>
              <a:t> </a:t>
            </a:r>
            <a:r>
              <a:rPr lang="de-DE" sz="6000" b="1" spc="714" dirty="0" err="1">
                <a:solidFill>
                  <a:srgbClr val="3C6CA8"/>
                </a:solidFill>
                <a:latin typeface="Lastica Bold"/>
                <a:ea typeface="Lastica Bold"/>
                <a:cs typeface="Lastica Bold"/>
                <a:sym typeface="Lastica Bold"/>
              </a:rPr>
              <a:t>goals</a:t>
            </a:r>
            <a:endParaRPr lang="en-US" sz="6000" b="1" spc="714" dirty="0">
              <a:solidFill>
                <a:srgbClr val="3C6CA8"/>
              </a:solidFill>
              <a:latin typeface="Lastica Bold"/>
              <a:ea typeface="Lastica Bold"/>
              <a:cs typeface="Lastica Bold"/>
              <a:sym typeface="Lastica Bold"/>
            </a:endParaRPr>
          </a:p>
        </p:txBody>
      </p:sp>
      <p:sp>
        <p:nvSpPr>
          <p:cNvPr id="7" name="AutoShape 2" descr="Александра Якимчук">
            <a:extLst>
              <a:ext uri="{FF2B5EF4-FFF2-40B4-BE49-F238E27FC236}">
                <a16:creationId xmlns:a16="http://schemas.microsoft.com/office/drawing/2014/main" id="{912F1B5D-5F83-4F68-9843-26C01A1A4B4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spTree>
    <p:extLst>
      <p:ext uri="{BB962C8B-B14F-4D97-AF65-F5344CB8AC3E}">
        <p14:creationId xmlns:p14="http://schemas.microsoft.com/office/powerpoint/2010/main" val="18139359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p:cNvGrpSpPr/>
        <p:nvPr/>
      </p:nvGrpSpPr>
      <p:grpSpPr>
        <a:xfrm>
          <a:off x="0" y="0"/>
          <a:ext cx="0" cy="0"/>
          <a:chOff x="0" y="0"/>
          <a:chExt cx="0" cy="0"/>
        </a:xfrm>
      </p:grpSpPr>
      <p:sp>
        <p:nvSpPr>
          <p:cNvPr id="2" name="TextBox 2"/>
          <p:cNvSpPr txBox="1"/>
          <p:nvPr/>
        </p:nvSpPr>
        <p:spPr>
          <a:xfrm>
            <a:off x="1519137" y="1407081"/>
            <a:ext cx="15249726" cy="1335750"/>
          </a:xfrm>
          <a:prstGeom prst="rect">
            <a:avLst/>
          </a:prstGeom>
        </p:spPr>
        <p:txBody>
          <a:bodyPr lIns="0" tIns="0" rIns="0" bIns="0" rtlCol="0" anchor="t">
            <a:spAutoFit/>
          </a:bodyPr>
          <a:lstStyle/>
          <a:p>
            <a:pPr algn="ctr">
              <a:lnSpc>
                <a:spcPts val="10809"/>
              </a:lnSpc>
            </a:pPr>
            <a:r>
              <a:rPr lang="en-US" sz="7720" b="1" spc="918" dirty="0">
                <a:solidFill>
                  <a:srgbClr val="3C6CA8"/>
                </a:solidFill>
                <a:latin typeface="Lastica Bold"/>
                <a:ea typeface="Lastica Bold"/>
                <a:cs typeface="Lastica Bold"/>
                <a:sym typeface="Lastica Bold"/>
              </a:rPr>
              <a:t>Our team</a:t>
            </a:r>
          </a:p>
        </p:txBody>
      </p:sp>
      <p:sp>
        <p:nvSpPr>
          <p:cNvPr id="3" name="Freeform 3"/>
          <p:cNvSpPr/>
          <p:nvPr/>
        </p:nvSpPr>
        <p:spPr>
          <a:xfrm>
            <a:off x="-2513204" y="6507643"/>
            <a:ext cx="6619707" cy="6818050"/>
          </a:xfrm>
          <a:custGeom>
            <a:avLst/>
            <a:gdLst/>
            <a:ahLst/>
            <a:cxnLst/>
            <a:rect l="l" t="t" r="r" b="b"/>
            <a:pathLst>
              <a:path w="6619707" h="6818050">
                <a:moveTo>
                  <a:pt x="0" y="0"/>
                </a:moveTo>
                <a:lnTo>
                  <a:pt x="6619707" y="0"/>
                </a:lnTo>
                <a:lnTo>
                  <a:pt x="6619707" y="6818050"/>
                </a:lnTo>
                <a:lnTo>
                  <a:pt x="0" y="68180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bg-BG"/>
          </a:p>
        </p:txBody>
      </p:sp>
      <p:sp>
        <p:nvSpPr>
          <p:cNvPr id="8" name="Freeform 8"/>
          <p:cNvSpPr/>
          <p:nvPr/>
        </p:nvSpPr>
        <p:spPr>
          <a:xfrm>
            <a:off x="12891974" y="-5120206"/>
            <a:ext cx="8734653" cy="8996365"/>
          </a:xfrm>
          <a:custGeom>
            <a:avLst/>
            <a:gdLst/>
            <a:ahLst/>
            <a:cxnLst/>
            <a:rect l="l" t="t" r="r" b="b"/>
            <a:pathLst>
              <a:path w="8734653" h="8996365">
                <a:moveTo>
                  <a:pt x="0" y="0"/>
                </a:moveTo>
                <a:lnTo>
                  <a:pt x="8734652" y="0"/>
                </a:lnTo>
                <a:lnTo>
                  <a:pt x="8734652" y="8996365"/>
                </a:lnTo>
                <a:lnTo>
                  <a:pt x="0" y="8996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bg-BG"/>
          </a:p>
        </p:txBody>
      </p:sp>
      <p:sp>
        <p:nvSpPr>
          <p:cNvPr id="22" name="TextBox 22"/>
          <p:cNvSpPr txBox="1"/>
          <p:nvPr/>
        </p:nvSpPr>
        <p:spPr>
          <a:xfrm>
            <a:off x="14379688" y="7161512"/>
            <a:ext cx="3021276" cy="923330"/>
          </a:xfrm>
          <a:prstGeom prst="rect">
            <a:avLst/>
          </a:prstGeom>
        </p:spPr>
        <p:txBody>
          <a:bodyPr lIns="0" tIns="0" rIns="0" bIns="0" rtlCol="0" anchor="t">
            <a:spAutoFit/>
          </a:bodyPr>
          <a:lstStyle/>
          <a:p>
            <a:pPr algn="ctr">
              <a:lnSpc>
                <a:spcPts val="3639"/>
              </a:lnSpc>
            </a:pPr>
            <a:r>
              <a:rPr lang="en-US" sz="2599" b="1" dirty="0">
                <a:solidFill>
                  <a:srgbClr val="3C6CA8"/>
                </a:solidFill>
                <a:latin typeface="Cy Grotesk Wide Bold"/>
                <a:ea typeface="Cy Grotesk Wide Bold"/>
                <a:cs typeface="Cy Grotesk Wide Bold"/>
                <a:sym typeface="Cy Grotesk Wide Bold"/>
              </a:rPr>
              <a:t>Ivan Ivanov </a:t>
            </a:r>
            <a:r>
              <a:rPr lang="en-US" sz="2599" b="1" dirty="0" err="1">
                <a:solidFill>
                  <a:srgbClr val="3C6CA8"/>
                </a:solidFill>
                <a:latin typeface="Cy Grotesk Wide Bold"/>
                <a:ea typeface="Cy Grotesk Wide Bold"/>
                <a:cs typeface="Cy Grotesk Wide Bold"/>
                <a:sym typeface="Cy Grotesk Wide Bold"/>
              </a:rPr>
              <a:t>Trifonov</a:t>
            </a:r>
            <a:endParaRPr lang="en-US" sz="2599" b="1" dirty="0">
              <a:solidFill>
                <a:srgbClr val="3C6CA8"/>
              </a:solidFill>
              <a:latin typeface="Cy Grotesk Wide Bold"/>
              <a:ea typeface="Cy Grotesk Wide Bold"/>
              <a:cs typeface="Cy Grotesk Wide Bold"/>
              <a:sym typeface="Cy Grotesk Wide Bold"/>
            </a:endParaRPr>
          </a:p>
        </p:txBody>
      </p:sp>
      <p:sp>
        <p:nvSpPr>
          <p:cNvPr id="24" name="TextBox 24"/>
          <p:cNvSpPr txBox="1"/>
          <p:nvPr/>
        </p:nvSpPr>
        <p:spPr>
          <a:xfrm>
            <a:off x="930937" y="7084119"/>
            <a:ext cx="3021276" cy="905510"/>
          </a:xfrm>
          <a:prstGeom prst="rect">
            <a:avLst/>
          </a:prstGeom>
        </p:spPr>
        <p:txBody>
          <a:bodyPr lIns="0" tIns="0" rIns="0" bIns="0" rtlCol="0" anchor="t">
            <a:spAutoFit/>
          </a:bodyPr>
          <a:lstStyle/>
          <a:p>
            <a:pPr algn="ctr">
              <a:lnSpc>
                <a:spcPts val="3639"/>
              </a:lnSpc>
            </a:pPr>
            <a:r>
              <a:rPr lang="en-US" sz="2599" b="1" dirty="0">
                <a:solidFill>
                  <a:srgbClr val="3C6CA8"/>
                </a:solidFill>
                <a:latin typeface="Cy Grotesk Wide Bold"/>
                <a:ea typeface="Cy Grotesk Wide Bold"/>
                <a:cs typeface="Cy Grotesk Wide Bold"/>
                <a:sym typeface="Cy Grotesk Wide Bold"/>
              </a:rPr>
              <a:t>Martin </a:t>
            </a:r>
            <a:r>
              <a:rPr lang="en-US" sz="2599" b="1" dirty="0" err="1">
                <a:solidFill>
                  <a:srgbClr val="3C6CA8"/>
                </a:solidFill>
                <a:latin typeface="Cy Grotesk Wide Bold"/>
                <a:ea typeface="Cy Grotesk Wide Bold"/>
                <a:cs typeface="Cy Grotesk Wide Bold"/>
                <a:sym typeface="Cy Grotesk Wide Bold"/>
              </a:rPr>
              <a:t>Atanasov</a:t>
            </a:r>
            <a:r>
              <a:rPr lang="en-US" sz="2599" b="1" dirty="0">
                <a:solidFill>
                  <a:srgbClr val="3C6CA8"/>
                </a:solidFill>
                <a:latin typeface="Cy Grotesk Wide Bold"/>
                <a:ea typeface="Cy Grotesk Wide Bold"/>
                <a:cs typeface="Cy Grotesk Wide Bold"/>
                <a:sym typeface="Cy Grotesk Wide Bold"/>
              </a:rPr>
              <a:t> </a:t>
            </a:r>
            <a:r>
              <a:rPr lang="en-US" sz="2599" b="1" dirty="0" err="1">
                <a:solidFill>
                  <a:srgbClr val="3C6CA8"/>
                </a:solidFill>
                <a:latin typeface="Cy Grotesk Wide Bold"/>
                <a:ea typeface="Cy Grotesk Wide Bold"/>
                <a:cs typeface="Cy Grotesk Wide Bold"/>
                <a:sym typeface="Cy Grotesk Wide Bold"/>
              </a:rPr>
              <a:t>Jelev</a:t>
            </a:r>
            <a:endParaRPr lang="en-US" sz="2599" b="1" dirty="0">
              <a:solidFill>
                <a:srgbClr val="3C6CA8"/>
              </a:solidFill>
              <a:latin typeface="Cy Grotesk Wide Bold"/>
              <a:ea typeface="Cy Grotesk Wide Bold"/>
              <a:cs typeface="Cy Grotesk Wide Bold"/>
              <a:sym typeface="Cy Grotesk Wide Bold"/>
            </a:endParaRPr>
          </a:p>
        </p:txBody>
      </p:sp>
      <p:sp>
        <p:nvSpPr>
          <p:cNvPr id="25" name="TextBox 25"/>
          <p:cNvSpPr txBox="1"/>
          <p:nvPr/>
        </p:nvSpPr>
        <p:spPr>
          <a:xfrm>
            <a:off x="722206" y="8084842"/>
            <a:ext cx="3360659" cy="342576"/>
          </a:xfrm>
          <a:prstGeom prst="rect">
            <a:avLst/>
          </a:prstGeom>
        </p:spPr>
        <p:txBody>
          <a:bodyPr lIns="0" tIns="0" rIns="0" bIns="0" rtlCol="0" anchor="t">
            <a:spAutoFit/>
          </a:bodyPr>
          <a:lstStyle/>
          <a:p>
            <a:pPr algn="ctr">
              <a:lnSpc>
                <a:spcPts val="2833"/>
              </a:lnSpc>
            </a:pPr>
            <a:r>
              <a:rPr lang="en-US" sz="2023" dirty="0">
                <a:solidFill>
                  <a:srgbClr val="3C6CA8"/>
                </a:solidFill>
                <a:latin typeface="Cy Grotesk Wide"/>
                <a:ea typeface="Cy Grotesk Wide"/>
                <a:cs typeface="Cy Grotesk Wide"/>
                <a:sym typeface="Cy Grotesk Wide"/>
              </a:rPr>
              <a:t>SCRUM TRAINER</a:t>
            </a:r>
          </a:p>
        </p:txBody>
      </p:sp>
      <p:sp>
        <p:nvSpPr>
          <p:cNvPr id="26" name="TextBox 26"/>
          <p:cNvSpPr txBox="1"/>
          <p:nvPr/>
        </p:nvSpPr>
        <p:spPr>
          <a:xfrm>
            <a:off x="5033387" y="7084119"/>
            <a:ext cx="3659070" cy="1362710"/>
          </a:xfrm>
          <a:prstGeom prst="rect">
            <a:avLst/>
          </a:prstGeom>
        </p:spPr>
        <p:txBody>
          <a:bodyPr lIns="0" tIns="0" rIns="0" bIns="0" rtlCol="0" anchor="t">
            <a:spAutoFit/>
          </a:bodyPr>
          <a:lstStyle/>
          <a:p>
            <a:pPr algn="ctr">
              <a:lnSpc>
                <a:spcPts val="3639"/>
              </a:lnSpc>
            </a:pPr>
            <a:r>
              <a:rPr lang="en-US" sz="2599" b="1" dirty="0">
                <a:solidFill>
                  <a:srgbClr val="3C6CA8"/>
                </a:solidFill>
                <a:latin typeface="Cy Grotesk Wide Bold"/>
                <a:ea typeface="Cy Grotesk Wide Bold"/>
                <a:cs typeface="Cy Grotesk Wide Bold"/>
                <a:sym typeface="Cy Grotesk Wide Bold"/>
              </a:rPr>
              <a:t>Dimitar </a:t>
            </a:r>
            <a:r>
              <a:rPr lang="en-US" sz="2599" b="1" dirty="0" err="1">
                <a:solidFill>
                  <a:srgbClr val="3C6CA8"/>
                </a:solidFill>
                <a:latin typeface="Cy Grotesk Wide Bold"/>
                <a:ea typeface="Cy Grotesk Wide Bold"/>
                <a:cs typeface="Cy Grotesk Wide Bold"/>
                <a:sym typeface="Cy Grotesk Wide Bold"/>
              </a:rPr>
              <a:t>Plamenov</a:t>
            </a:r>
            <a:endParaRPr lang="en-US" sz="2599" b="1" dirty="0">
              <a:solidFill>
                <a:srgbClr val="3C6CA8"/>
              </a:solidFill>
              <a:latin typeface="Cy Grotesk Wide Bold"/>
              <a:ea typeface="Cy Grotesk Wide Bold"/>
              <a:cs typeface="Cy Grotesk Wide Bold"/>
              <a:sym typeface="Cy Grotesk Wide Bold"/>
            </a:endParaRPr>
          </a:p>
          <a:p>
            <a:pPr algn="ctr">
              <a:lnSpc>
                <a:spcPts val="3639"/>
              </a:lnSpc>
            </a:pPr>
            <a:r>
              <a:rPr lang="en-US" sz="2599" b="1" dirty="0" err="1">
                <a:solidFill>
                  <a:srgbClr val="3C6CA8"/>
                </a:solidFill>
                <a:latin typeface="Cy Grotesk Wide Bold"/>
                <a:ea typeface="Cy Grotesk Wide Bold"/>
                <a:cs typeface="Cy Grotesk Wide Bold"/>
                <a:sym typeface="Cy Grotesk Wide Bold"/>
              </a:rPr>
              <a:t>Nyagalov</a:t>
            </a:r>
            <a:endParaRPr lang="en-US" sz="2599" b="1" dirty="0">
              <a:solidFill>
                <a:srgbClr val="3C6CA8"/>
              </a:solidFill>
              <a:latin typeface="Cy Grotesk Wide Bold"/>
              <a:ea typeface="Cy Grotesk Wide Bold"/>
              <a:cs typeface="Cy Grotesk Wide Bold"/>
              <a:sym typeface="Cy Grotesk Wide Bold"/>
            </a:endParaRPr>
          </a:p>
          <a:p>
            <a:pPr algn="ctr">
              <a:lnSpc>
                <a:spcPts val="3639"/>
              </a:lnSpc>
            </a:pPr>
            <a:endParaRPr lang="en-US" sz="2599" b="1" dirty="0">
              <a:solidFill>
                <a:srgbClr val="3C6CA8"/>
              </a:solidFill>
              <a:latin typeface="Cy Grotesk Wide Bold"/>
              <a:ea typeface="Cy Grotesk Wide Bold"/>
              <a:cs typeface="Cy Grotesk Wide Bold"/>
              <a:sym typeface="Cy Grotesk Wide Bold"/>
            </a:endParaRPr>
          </a:p>
        </p:txBody>
      </p:sp>
      <p:sp>
        <p:nvSpPr>
          <p:cNvPr id="27" name="TextBox 27"/>
          <p:cNvSpPr txBox="1"/>
          <p:nvPr/>
        </p:nvSpPr>
        <p:spPr>
          <a:xfrm>
            <a:off x="5182592" y="8188288"/>
            <a:ext cx="3360659" cy="321178"/>
          </a:xfrm>
          <a:prstGeom prst="rect">
            <a:avLst/>
          </a:prstGeom>
        </p:spPr>
        <p:txBody>
          <a:bodyPr lIns="0" tIns="0" rIns="0" bIns="0" rtlCol="0" anchor="t">
            <a:spAutoFit/>
          </a:bodyPr>
          <a:lstStyle/>
          <a:p>
            <a:pPr algn="ctr">
              <a:lnSpc>
                <a:spcPts val="2833"/>
              </a:lnSpc>
            </a:pPr>
            <a:r>
              <a:rPr lang="en-US" sz="2023" dirty="0">
                <a:solidFill>
                  <a:srgbClr val="3C6CA8"/>
                </a:solidFill>
                <a:latin typeface="Cy Grotesk Wide"/>
                <a:ea typeface="Cy Grotesk Wide"/>
                <a:cs typeface="Cy Grotesk Wide"/>
                <a:sym typeface="Cy Grotesk Wide"/>
              </a:rPr>
              <a:t>Designer</a:t>
            </a:r>
          </a:p>
        </p:txBody>
      </p:sp>
      <p:sp>
        <p:nvSpPr>
          <p:cNvPr id="28" name="TextBox 28"/>
          <p:cNvSpPr txBox="1"/>
          <p:nvPr/>
        </p:nvSpPr>
        <p:spPr>
          <a:xfrm>
            <a:off x="9856348" y="7073436"/>
            <a:ext cx="3021276" cy="905510"/>
          </a:xfrm>
          <a:prstGeom prst="rect">
            <a:avLst/>
          </a:prstGeom>
        </p:spPr>
        <p:txBody>
          <a:bodyPr lIns="0" tIns="0" rIns="0" bIns="0" rtlCol="0" anchor="t">
            <a:spAutoFit/>
          </a:bodyPr>
          <a:lstStyle/>
          <a:p>
            <a:pPr algn="ctr">
              <a:lnSpc>
                <a:spcPts val="3639"/>
              </a:lnSpc>
            </a:pPr>
            <a:r>
              <a:rPr lang="en-US" sz="2599" b="1" dirty="0">
                <a:solidFill>
                  <a:srgbClr val="3C6CA8"/>
                </a:solidFill>
                <a:latin typeface="Cy Grotesk Wide Bold"/>
                <a:ea typeface="Cy Grotesk Wide Bold"/>
                <a:cs typeface="Cy Grotesk Wide Bold"/>
                <a:sym typeface="Cy Grotesk Wide Bold"/>
              </a:rPr>
              <a:t>Georgi </a:t>
            </a:r>
            <a:r>
              <a:rPr lang="en-US" sz="2599" b="1" dirty="0" err="1">
                <a:solidFill>
                  <a:srgbClr val="3C6CA8"/>
                </a:solidFill>
                <a:latin typeface="Cy Grotesk Wide Bold"/>
                <a:ea typeface="Cy Grotesk Wide Bold"/>
                <a:cs typeface="Cy Grotesk Wide Bold"/>
                <a:sym typeface="Cy Grotesk Wide Bold"/>
              </a:rPr>
              <a:t>Ivaylov</a:t>
            </a:r>
            <a:r>
              <a:rPr lang="en-US" sz="2599" b="1" dirty="0">
                <a:solidFill>
                  <a:srgbClr val="3C6CA8"/>
                </a:solidFill>
                <a:latin typeface="Cy Grotesk Wide Bold"/>
                <a:ea typeface="Cy Grotesk Wide Bold"/>
                <a:cs typeface="Cy Grotesk Wide Bold"/>
                <a:sym typeface="Cy Grotesk Wide Bold"/>
              </a:rPr>
              <a:t> Nikolov</a:t>
            </a:r>
          </a:p>
        </p:txBody>
      </p:sp>
      <p:sp>
        <p:nvSpPr>
          <p:cNvPr id="29" name="TextBox 29"/>
          <p:cNvSpPr txBox="1"/>
          <p:nvPr/>
        </p:nvSpPr>
        <p:spPr>
          <a:xfrm>
            <a:off x="9637666" y="8084842"/>
            <a:ext cx="3360659" cy="718145"/>
          </a:xfrm>
          <a:prstGeom prst="rect">
            <a:avLst/>
          </a:prstGeom>
        </p:spPr>
        <p:txBody>
          <a:bodyPr lIns="0" tIns="0" rIns="0" bIns="0" rtlCol="0" anchor="t">
            <a:spAutoFit/>
          </a:bodyPr>
          <a:lstStyle/>
          <a:p>
            <a:pPr algn="ctr">
              <a:lnSpc>
                <a:spcPts val="2833"/>
              </a:lnSpc>
            </a:pPr>
            <a:r>
              <a:rPr lang="en-US" sz="2023" dirty="0">
                <a:solidFill>
                  <a:srgbClr val="3C6CA8"/>
                </a:solidFill>
                <a:latin typeface="Cy Grotesk Wide"/>
                <a:ea typeface="Cy Grotesk Wide"/>
                <a:cs typeface="Cy Grotesk Wide"/>
                <a:sym typeface="Cy Grotesk Wide"/>
              </a:rPr>
              <a:t>BACK-END DEVELOPER</a:t>
            </a:r>
          </a:p>
        </p:txBody>
      </p:sp>
      <p:pic>
        <p:nvPicPr>
          <p:cNvPr id="1026" name="Picture 2" descr="https://avatars.githubusercontent.com/u/181150574?v=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79595" y="3005734"/>
            <a:ext cx="4021462" cy="402146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0">
            <a:scrgbClr r="0" g="0" b="0"/>
          </a:lnRef>
          <a:fillRef idx="0">
            <a:scrgbClr r="0" g="0" b="0"/>
          </a:fillRef>
          <a:effectRef idx="0">
            <a:scrgbClr r="0" g="0" b="0"/>
          </a:effectRef>
          <a:fontRef idx="minor">
            <a:schemeClr val="dk1"/>
          </a:fontRef>
        </p:style>
      </p:pic>
      <p:pic>
        <p:nvPicPr>
          <p:cNvPr id="1028" name="Picture 4" descr="View Martin-Zhelev's full-sized avata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375" y="2924617"/>
            <a:ext cx="3962400" cy="39624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4" name="Picture 10" descr="View DimitarNyagalov's full-sized avata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1467" y="2892729"/>
            <a:ext cx="3982911" cy="39829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1" name="AutoShape 12" descr="Георги Ивайлов Николов"/>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sp>
        <p:nvSpPr>
          <p:cNvPr id="32" name="AutoShape 14" descr="Георги Ивайлов Николов"/>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sp>
        <p:nvSpPr>
          <p:cNvPr id="33" name="AutoShape 16" descr="Георги Ивайлов Николов"/>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pic>
        <p:nvPicPr>
          <p:cNvPr id="34" name="Картина 3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06586" y="2898846"/>
            <a:ext cx="4120801" cy="404683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5" name="Картина 34"/>
          <p:cNvPicPr>
            <a:picLocks noChangeAspect="1"/>
          </p:cNvPicPr>
          <p:nvPr/>
        </p:nvPicPr>
        <p:blipFill>
          <a:blip r:embed="rId10"/>
          <a:stretch>
            <a:fillRect/>
          </a:stretch>
        </p:blipFill>
        <p:spPr>
          <a:xfrm>
            <a:off x="14210732" y="8219157"/>
            <a:ext cx="3359187" cy="8961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p:cNvGrpSpPr/>
        <p:nvPr/>
      </p:nvGrpSpPr>
      <p:grpSpPr>
        <a:xfrm>
          <a:off x="0" y="0"/>
          <a:ext cx="0" cy="0"/>
          <a:chOff x="0" y="0"/>
          <a:chExt cx="0" cy="0"/>
        </a:xfrm>
      </p:grpSpPr>
      <p:sp>
        <p:nvSpPr>
          <p:cNvPr id="2" name="Freeform 2"/>
          <p:cNvSpPr/>
          <p:nvPr/>
        </p:nvSpPr>
        <p:spPr>
          <a:xfrm>
            <a:off x="-1357342" y="4581047"/>
            <a:ext cx="8734653" cy="8996365"/>
          </a:xfrm>
          <a:custGeom>
            <a:avLst/>
            <a:gdLst/>
            <a:ahLst/>
            <a:cxnLst/>
            <a:rect l="l" t="t" r="r" b="b"/>
            <a:pathLst>
              <a:path w="8734653" h="8996365">
                <a:moveTo>
                  <a:pt x="0" y="0"/>
                </a:moveTo>
                <a:lnTo>
                  <a:pt x="8734652" y="0"/>
                </a:lnTo>
                <a:lnTo>
                  <a:pt x="8734652" y="8996366"/>
                </a:lnTo>
                <a:lnTo>
                  <a:pt x="0" y="89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bg-BG"/>
          </a:p>
        </p:txBody>
      </p:sp>
      <p:sp>
        <p:nvSpPr>
          <p:cNvPr id="3" name="Freeform 3"/>
          <p:cNvSpPr/>
          <p:nvPr/>
        </p:nvSpPr>
        <p:spPr>
          <a:xfrm>
            <a:off x="12891974" y="-5120206"/>
            <a:ext cx="8734653" cy="8996365"/>
          </a:xfrm>
          <a:custGeom>
            <a:avLst/>
            <a:gdLst/>
            <a:ahLst/>
            <a:cxnLst/>
            <a:rect l="l" t="t" r="r" b="b"/>
            <a:pathLst>
              <a:path w="8734653" h="8996365">
                <a:moveTo>
                  <a:pt x="0" y="0"/>
                </a:moveTo>
                <a:lnTo>
                  <a:pt x="8734652" y="0"/>
                </a:lnTo>
                <a:lnTo>
                  <a:pt x="8734652" y="8996365"/>
                </a:lnTo>
                <a:lnTo>
                  <a:pt x="0" y="8996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bg-BG"/>
          </a:p>
        </p:txBody>
      </p:sp>
      <p:sp>
        <p:nvSpPr>
          <p:cNvPr id="5" name="Freeform 5">
            <a:hlinkClick r:id="rId6"/>
          </p:cNvPr>
          <p:cNvSpPr/>
          <p:nvPr/>
        </p:nvSpPr>
        <p:spPr>
          <a:xfrm>
            <a:off x="14055443" y="4191567"/>
            <a:ext cx="1913938" cy="1903865"/>
          </a:xfrm>
          <a:custGeom>
            <a:avLst/>
            <a:gdLst/>
            <a:ahLst/>
            <a:cxnLst/>
            <a:rect l="l" t="t" r="r" b="b"/>
            <a:pathLst>
              <a:path w="1913938" h="1903865">
                <a:moveTo>
                  <a:pt x="0" y="0"/>
                </a:moveTo>
                <a:lnTo>
                  <a:pt x="1913938" y="0"/>
                </a:lnTo>
                <a:lnTo>
                  <a:pt x="1913938" y="1903866"/>
                </a:lnTo>
                <a:lnTo>
                  <a:pt x="0" y="1903866"/>
                </a:lnTo>
                <a:lnTo>
                  <a:pt x="0" y="0"/>
                </a:lnTo>
                <a:close/>
              </a:path>
            </a:pathLst>
          </a:custGeom>
          <a:blipFill>
            <a:blip r:embed="rId7"/>
            <a:stretch>
              <a:fillRect/>
            </a:stretch>
          </a:blipFill>
        </p:spPr>
        <p:txBody>
          <a:bodyPr/>
          <a:lstStyle/>
          <a:p>
            <a:endParaRPr lang="bg-BG"/>
          </a:p>
        </p:txBody>
      </p:sp>
      <p:sp>
        <p:nvSpPr>
          <p:cNvPr id="6" name="Freeform 6">
            <a:hlinkClick r:id="rId8"/>
          </p:cNvPr>
          <p:cNvSpPr>
            <a:spLocks/>
          </p:cNvSpPr>
          <p:nvPr/>
        </p:nvSpPr>
        <p:spPr>
          <a:xfrm>
            <a:off x="11312178" y="4191567"/>
            <a:ext cx="1692060" cy="1903865"/>
          </a:xfrm>
          <a:custGeom>
            <a:avLst/>
            <a:gdLst/>
            <a:ahLst/>
            <a:cxnLst/>
            <a:rect l="l" t="t" r="r" b="b"/>
            <a:pathLst>
              <a:path w="1692060" h="1903865">
                <a:moveTo>
                  <a:pt x="0" y="0"/>
                </a:moveTo>
                <a:lnTo>
                  <a:pt x="1692060" y="0"/>
                </a:lnTo>
                <a:lnTo>
                  <a:pt x="1692060" y="1903866"/>
                </a:lnTo>
                <a:lnTo>
                  <a:pt x="0" y="1903866"/>
                </a:lnTo>
                <a:lnTo>
                  <a:pt x="0" y="0"/>
                </a:lnTo>
                <a:close/>
              </a:path>
            </a:pathLst>
          </a:custGeom>
          <a:blipFill>
            <a:blip r:embed="rId9"/>
            <a:stretch>
              <a:fillRect/>
            </a:stretch>
          </a:blipFill>
        </p:spPr>
        <p:txBody>
          <a:bodyPr/>
          <a:lstStyle/>
          <a:p>
            <a:endParaRPr lang="bg-BG"/>
          </a:p>
        </p:txBody>
      </p:sp>
      <p:sp>
        <p:nvSpPr>
          <p:cNvPr id="7" name="Freeform 7">
            <a:hlinkClick r:id="rId10"/>
          </p:cNvPr>
          <p:cNvSpPr/>
          <p:nvPr/>
        </p:nvSpPr>
        <p:spPr>
          <a:xfrm>
            <a:off x="8300153" y="4191567"/>
            <a:ext cx="1903865" cy="1903865"/>
          </a:xfrm>
          <a:custGeom>
            <a:avLst/>
            <a:gdLst/>
            <a:ahLst/>
            <a:cxnLst/>
            <a:rect l="l" t="t" r="r" b="b"/>
            <a:pathLst>
              <a:path w="1903865" h="1903865">
                <a:moveTo>
                  <a:pt x="0" y="0"/>
                </a:moveTo>
                <a:lnTo>
                  <a:pt x="1903865" y="0"/>
                </a:lnTo>
                <a:lnTo>
                  <a:pt x="1903865" y="1903866"/>
                </a:lnTo>
                <a:lnTo>
                  <a:pt x="0" y="1903866"/>
                </a:lnTo>
                <a:lnTo>
                  <a:pt x="0" y="0"/>
                </a:lnTo>
                <a:close/>
              </a:path>
            </a:pathLst>
          </a:custGeom>
          <a:blipFill>
            <a:blip r:embed="rId11"/>
            <a:stretch>
              <a:fillRect/>
            </a:stretch>
          </a:blipFill>
        </p:spPr>
        <p:txBody>
          <a:bodyPr/>
          <a:lstStyle/>
          <a:p>
            <a:endParaRPr lang="bg-BG"/>
          </a:p>
        </p:txBody>
      </p:sp>
      <p:sp>
        <p:nvSpPr>
          <p:cNvPr id="8" name="Freeform 8">
            <a:hlinkClick r:id="rId12"/>
          </p:cNvPr>
          <p:cNvSpPr/>
          <p:nvPr/>
        </p:nvSpPr>
        <p:spPr>
          <a:xfrm>
            <a:off x="8352510" y="6809655"/>
            <a:ext cx="1851509" cy="1903865"/>
          </a:xfrm>
          <a:custGeom>
            <a:avLst/>
            <a:gdLst/>
            <a:ahLst/>
            <a:cxnLst/>
            <a:rect l="l" t="t" r="r" b="b"/>
            <a:pathLst>
              <a:path w="1851509" h="1903865">
                <a:moveTo>
                  <a:pt x="0" y="0"/>
                </a:moveTo>
                <a:lnTo>
                  <a:pt x="1851508" y="0"/>
                </a:lnTo>
                <a:lnTo>
                  <a:pt x="1851508" y="1903865"/>
                </a:lnTo>
                <a:lnTo>
                  <a:pt x="0" y="1903865"/>
                </a:lnTo>
                <a:lnTo>
                  <a:pt x="0" y="0"/>
                </a:lnTo>
                <a:close/>
              </a:path>
            </a:pathLst>
          </a:custGeom>
          <a:blipFill>
            <a:blip r:embed="rId13"/>
            <a:stretch>
              <a:fillRect/>
            </a:stretch>
          </a:blipFill>
        </p:spPr>
        <p:txBody>
          <a:bodyPr/>
          <a:lstStyle/>
          <a:p>
            <a:endParaRPr lang="bg-BG"/>
          </a:p>
        </p:txBody>
      </p:sp>
      <p:sp>
        <p:nvSpPr>
          <p:cNvPr id="9" name="Freeform 9">
            <a:hlinkClick r:id="rId14"/>
          </p:cNvPr>
          <p:cNvSpPr/>
          <p:nvPr/>
        </p:nvSpPr>
        <p:spPr>
          <a:xfrm>
            <a:off x="11175568" y="6809655"/>
            <a:ext cx="1965280" cy="1903865"/>
          </a:xfrm>
          <a:custGeom>
            <a:avLst/>
            <a:gdLst/>
            <a:ahLst/>
            <a:cxnLst/>
            <a:rect l="l" t="t" r="r" b="b"/>
            <a:pathLst>
              <a:path w="1965280" h="1903865">
                <a:moveTo>
                  <a:pt x="0" y="0"/>
                </a:moveTo>
                <a:lnTo>
                  <a:pt x="1965280" y="0"/>
                </a:lnTo>
                <a:lnTo>
                  <a:pt x="1965280" y="1903865"/>
                </a:lnTo>
                <a:lnTo>
                  <a:pt x="0" y="1903865"/>
                </a:lnTo>
                <a:lnTo>
                  <a:pt x="0" y="0"/>
                </a:lnTo>
                <a:close/>
              </a:path>
            </a:pathLst>
          </a:custGeom>
          <a:blipFill>
            <a:blip r:embed="rId15"/>
            <a:stretch>
              <a:fillRect/>
            </a:stretch>
          </a:blipFill>
        </p:spPr>
        <p:txBody>
          <a:bodyPr/>
          <a:lstStyle/>
          <a:p>
            <a:endParaRPr lang="bg-BG"/>
          </a:p>
        </p:txBody>
      </p:sp>
      <p:sp>
        <p:nvSpPr>
          <p:cNvPr id="10" name="Freeform 10">
            <a:hlinkClick r:id="rId16"/>
          </p:cNvPr>
          <p:cNvSpPr/>
          <p:nvPr/>
        </p:nvSpPr>
        <p:spPr>
          <a:xfrm>
            <a:off x="14167849" y="6809655"/>
            <a:ext cx="1801532" cy="1903865"/>
          </a:xfrm>
          <a:custGeom>
            <a:avLst/>
            <a:gdLst/>
            <a:ahLst/>
            <a:cxnLst/>
            <a:rect l="l" t="t" r="r" b="b"/>
            <a:pathLst>
              <a:path w="1801532" h="1903865">
                <a:moveTo>
                  <a:pt x="0" y="0"/>
                </a:moveTo>
                <a:lnTo>
                  <a:pt x="1801532" y="0"/>
                </a:lnTo>
                <a:lnTo>
                  <a:pt x="1801532" y="1903865"/>
                </a:lnTo>
                <a:lnTo>
                  <a:pt x="0" y="1903865"/>
                </a:lnTo>
                <a:lnTo>
                  <a:pt x="0" y="0"/>
                </a:lnTo>
                <a:close/>
              </a:path>
            </a:pathLst>
          </a:custGeom>
          <a:blipFill>
            <a:blip r:embed="rId17"/>
            <a:stretch>
              <a:fillRect/>
            </a:stretch>
          </a:blipFill>
        </p:spPr>
        <p:txBody>
          <a:bodyPr/>
          <a:lstStyle/>
          <a:p>
            <a:endParaRPr lang="bg-BG"/>
          </a:p>
        </p:txBody>
      </p:sp>
      <p:sp>
        <p:nvSpPr>
          <p:cNvPr id="11" name="Freeform 11">
            <a:hlinkClick r:id="rId18"/>
          </p:cNvPr>
          <p:cNvSpPr/>
          <p:nvPr/>
        </p:nvSpPr>
        <p:spPr>
          <a:xfrm>
            <a:off x="5693481" y="4191567"/>
            <a:ext cx="1903865" cy="1903865"/>
          </a:xfrm>
          <a:custGeom>
            <a:avLst/>
            <a:gdLst/>
            <a:ahLst/>
            <a:cxnLst/>
            <a:rect l="l" t="t" r="r" b="b"/>
            <a:pathLst>
              <a:path w="1903865" h="1903865">
                <a:moveTo>
                  <a:pt x="0" y="0"/>
                </a:moveTo>
                <a:lnTo>
                  <a:pt x="1903865" y="0"/>
                </a:lnTo>
                <a:lnTo>
                  <a:pt x="1903865" y="1903866"/>
                </a:lnTo>
                <a:lnTo>
                  <a:pt x="0" y="1903866"/>
                </a:lnTo>
                <a:lnTo>
                  <a:pt x="0" y="0"/>
                </a:lnTo>
                <a:close/>
              </a:path>
            </a:pathLst>
          </a:custGeom>
          <a:blipFill>
            <a:blip r:embed="rId19"/>
            <a:stretch>
              <a:fillRect/>
            </a:stretch>
          </a:blipFill>
        </p:spPr>
        <p:txBody>
          <a:bodyPr/>
          <a:lstStyle/>
          <a:p>
            <a:endParaRPr lang="bg-BG"/>
          </a:p>
        </p:txBody>
      </p:sp>
      <p:sp>
        <p:nvSpPr>
          <p:cNvPr id="12" name="TextBox 12"/>
          <p:cNvSpPr txBox="1"/>
          <p:nvPr/>
        </p:nvSpPr>
        <p:spPr>
          <a:xfrm>
            <a:off x="1494431" y="2771259"/>
            <a:ext cx="15515310" cy="1104900"/>
          </a:xfrm>
          <a:prstGeom prst="rect">
            <a:avLst/>
          </a:prstGeom>
        </p:spPr>
        <p:txBody>
          <a:bodyPr lIns="0" tIns="0" rIns="0" bIns="0" rtlCol="0" anchor="t">
            <a:spAutoFit/>
          </a:bodyPr>
          <a:lstStyle/>
          <a:p>
            <a:pPr algn="ctr">
              <a:lnSpc>
                <a:spcPts val="8400"/>
              </a:lnSpc>
            </a:pPr>
            <a:r>
              <a:rPr lang="en-US" sz="6000" b="1" spc="714" dirty="0">
                <a:solidFill>
                  <a:srgbClr val="3C6CA8"/>
                </a:solidFill>
                <a:latin typeface="Lastica Bold"/>
                <a:ea typeface="Lastica Bold"/>
                <a:cs typeface="Lastica Bold"/>
                <a:sym typeface="Lastica Bold"/>
              </a:rPr>
              <a:t>Technologies used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p:cNvGrpSpPr/>
        <p:nvPr/>
      </p:nvGrpSpPr>
      <p:grpSpPr>
        <a:xfrm>
          <a:off x="0" y="0"/>
          <a:ext cx="0" cy="0"/>
          <a:chOff x="0" y="0"/>
          <a:chExt cx="0" cy="0"/>
        </a:xfrm>
      </p:grpSpPr>
      <p:sp>
        <p:nvSpPr>
          <p:cNvPr id="2" name="Freeform 2"/>
          <p:cNvSpPr/>
          <p:nvPr/>
        </p:nvSpPr>
        <p:spPr>
          <a:xfrm>
            <a:off x="-1357342" y="4581047"/>
            <a:ext cx="8734653" cy="8996365"/>
          </a:xfrm>
          <a:custGeom>
            <a:avLst/>
            <a:gdLst/>
            <a:ahLst/>
            <a:cxnLst/>
            <a:rect l="l" t="t" r="r" b="b"/>
            <a:pathLst>
              <a:path w="8734653" h="8996365">
                <a:moveTo>
                  <a:pt x="0" y="0"/>
                </a:moveTo>
                <a:lnTo>
                  <a:pt x="8734652" y="0"/>
                </a:lnTo>
                <a:lnTo>
                  <a:pt x="8734652" y="8996366"/>
                </a:lnTo>
                <a:lnTo>
                  <a:pt x="0" y="8996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bg-BG"/>
          </a:p>
        </p:txBody>
      </p:sp>
      <p:sp>
        <p:nvSpPr>
          <p:cNvPr id="3" name="Freeform 3"/>
          <p:cNvSpPr/>
          <p:nvPr/>
        </p:nvSpPr>
        <p:spPr>
          <a:xfrm>
            <a:off x="12891974" y="-5120206"/>
            <a:ext cx="8734653" cy="8996365"/>
          </a:xfrm>
          <a:custGeom>
            <a:avLst/>
            <a:gdLst/>
            <a:ahLst/>
            <a:cxnLst/>
            <a:rect l="l" t="t" r="r" b="b"/>
            <a:pathLst>
              <a:path w="8734653" h="8996365">
                <a:moveTo>
                  <a:pt x="0" y="0"/>
                </a:moveTo>
                <a:lnTo>
                  <a:pt x="8734652" y="0"/>
                </a:lnTo>
                <a:lnTo>
                  <a:pt x="8734652" y="8996365"/>
                </a:lnTo>
                <a:lnTo>
                  <a:pt x="0" y="8996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bg-BG"/>
          </a:p>
        </p:txBody>
      </p:sp>
      <p:sp>
        <p:nvSpPr>
          <p:cNvPr id="5" name="TextBox 5"/>
          <p:cNvSpPr txBox="1"/>
          <p:nvPr/>
        </p:nvSpPr>
        <p:spPr>
          <a:xfrm>
            <a:off x="2127816" y="2744127"/>
            <a:ext cx="14032368" cy="3325526"/>
          </a:xfrm>
          <a:prstGeom prst="rect">
            <a:avLst/>
          </a:prstGeom>
        </p:spPr>
        <p:txBody>
          <a:bodyPr lIns="0" tIns="0" rIns="0" bIns="0" rtlCol="0" anchor="t">
            <a:spAutoFit/>
          </a:bodyPr>
          <a:lstStyle/>
          <a:p>
            <a:pPr algn="ctr">
              <a:lnSpc>
                <a:spcPts val="13216"/>
              </a:lnSpc>
            </a:pPr>
            <a:r>
              <a:rPr lang="en-AU" sz="9600" dirty="0">
                <a:solidFill>
                  <a:schemeClr val="accent1">
                    <a:lumMod val="75000"/>
                  </a:schemeClr>
                </a:solidFill>
                <a:latin typeface="Arial Black" panose="020B0A04020102020204" pitchFamily="34" charset="0"/>
              </a:rPr>
              <a:t>LET’S CONTINUE WITH THE APP!</a:t>
            </a:r>
            <a:endParaRPr lang="en-US" sz="9440" b="1" spc="1123" dirty="0">
              <a:solidFill>
                <a:srgbClr val="3C6CA8"/>
              </a:solidFill>
              <a:latin typeface="Lastica Bold"/>
              <a:ea typeface="Lastica Bold"/>
              <a:cs typeface="Lastica Bold"/>
              <a:sym typeface="Lastica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120</Words>
  <Application>Microsoft Office PowerPoint</Application>
  <PresentationFormat>Custom</PresentationFormat>
  <Paragraphs>20</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Lastica Bold</vt:lpstr>
      <vt:lpstr>Arial Black</vt:lpstr>
      <vt:lpstr>Cy Grotesk Wide</vt:lpstr>
      <vt:lpstr>Cy Grotesk Wide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Legends</dc:title>
  <dc:creator>Пламен</dc:creator>
  <cp:lastModifiedBy>Димитър П. Нягалов</cp:lastModifiedBy>
  <cp:revision>12</cp:revision>
  <dcterms:created xsi:type="dcterms:W3CDTF">2006-08-16T00:00:00Z</dcterms:created>
  <dcterms:modified xsi:type="dcterms:W3CDTF">2026-03-23T18:43:43Z</dcterms:modified>
  <dc:identifier>DAG6fRJF_m8</dc:identifier>
</cp:coreProperties>
</file>